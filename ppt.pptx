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3.svg" ContentType="image/svg+xml"/>
  <Override PartName="/ppt/media/image15.svg" ContentType="image/svg+xml"/>
  <Override PartName="/ppt/media/image5.svg" ContentType="image/svg+xml"/>
  <Override PartName="/ppt/media/image7.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8288000" cy="10287000"/>
  <p:notesSz cx="6858000" cy="9144000"/>
  <p:embeddedFontLst>
    <p:embeddedFont>
      <p:font typeface="Arimo Bold" panose="020B0704020202020204"/>
      <p:bold r:id="rId24"/>
    </p:embeddedFont>
    <p:embeddedFont>
      <p:font typeface="Poppins" panose="00000500000000000000"/>
      <p:regular r:id="rId25"/>
    </p:embeddedFont>
    <p:embeddedFont>
      <p:font typeface="Times New Roman Bold" panose="02030802070405020303"/>
      <p:bold r:id="rId26"/>
    </p:embeddedFont>
    <p:embeddedFont>
      <p:font typeface="Canva Sans Bold" panose="020B0803030501040103"/>
      <p:bold r:id="rId27"/>
    </p:embeddedFont>
    <p:embeddedFont>
      <p:font typeface="Canva Sans" panose="020B0503030501040103"/>
      <p:regular r:id="rId28"/>
    </p:embeddedFont>
    <p:embeddedFont>
      <p:font typeface="Calibri" panose="020F0502020204030204"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font" Target="fonts/font9.fntdata"/><Relationship Id="rId31" Type="http://schemas.openxmlformats.org/officeDocument/2006/relationships/font" Target="fonts/font8.fntdata"/><Relationship Id="rId30" Type="http://schemas.openxmlformats.org/officeDocument/2006/relationships/font" Target="fonts/font7.fntdata"/><Relationship Id="rId3" Type="http://schemas.openxmlformats.org/officeDocument/2006/relationships/slide" Target="slides/slide1.xml"/><Relationship Id="rId29" Type="http://schemas.openxmlformats.org/officeDocument/2006/relationships/font" Target="fonts/font6.fntdata"/><Relationship Id="rId28" Type="http://schemas.openxmlformats.org/officeDocument/2006/relationships/font" Target="fonts/font5.fntdata"/><Relationship Id="rId27" Type="http://schemas.openxmlformats.org/officeDocument/2006/relationships/font" Target="fonts/font4.fntdata"/><Relationship Id="rId26" Type="http://schemas.openxmlformats.org/officeDocument/2006/relationships/font" Target="fonts/font3.fntdata"/><Relationship Id="rId25" Type="http://schemas.openxmlformats.org/officeDocument/2006/relationships/font" Target="fonts/font2.fntdata"/><Relationship Id="rId24" Type="http://schemas.openxmlformats.org/officeDocument/2006/relationships/font" Target="fonts/font1.fntdata"/><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png"/><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5.svg"/><Relationship Id="rId6" Type="http://schemas.openxmlformats.org/officeDocument/2006/relationships/image" Target="../media/image14.png"/><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image" Target="../media/image10.png"/><Relationship Id="rId2" Type="http://schemas.openxmlformats.org/officeDocument/2006/relationships/image" Target="../media/image13.sv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5.svg"/><Relationship Id="rId6" Type="http://schemas.openxmlformats.org/officeDocument/2006/relationships/image" Target="../media/image17.png"/><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16.png"/></Relationships>
</file>

<file path=ppt/slides/_rels/slide6.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jpeg"/><Relationship Id="rId7" Type="http://schemas.openxmlformats.org/officeDocument/2006/relationships/image" Target="../media/image3.png"/><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7.svg"/><Relationship Id="rId3" Type="http://schemas.openxmlformats.org/officeDocument/2006/relationships/image" Target="../media/image19.png"/><Relationship Id="rId2" Type="http://schemas.openxmlformats.org/officeDocument/2006/relationships/image" Target="../media/image5.svg"/><Relationship Id="rId10" Type="http://schemas.openxmlformats.org/officeDocument/2006/relationships/slideLayout" Target="../slideLayouts/slideLayout7.xml"/><Relationship Id="rId1"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png"/><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7.svg"/><Relationship Id="rId3" Type="http://schemas.openxmlformats.org/officeDocument/2006/relationships/image" Target="../media/image19.png"/><Relationship Id="rId2" Type="http://schemas.openxmlformats.org/officeDocument/2006/relationships/image" Target="../media/image5.svg"/><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png"/><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7.svg"/><Relationship Id="rId3" Type="http://schemas.openxmlformats.org/officeDocument/2006/relationships/image" Target="../media/image19.png"/><Relationship Id="rId2" Type="http://schemas.openxmlformats.org/officeDocument/2006/relationships/image" Target="../media/image5.svg"/><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png"/><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7.svg"/><Relationship Id="rId3" Type="http://schemas.openxmlformats.org/officeDocument/2006/relationships/image" Target="../media/image19.png"/><Relationship Id="rId2" Type="http://schemas.openxmlformats.org/officeDocument/2006/relationships/image" Target="../media/image5.svg"/><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2.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3.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4.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53695" y="3695782"/>
            <a:ext cx="18105120" cy="632550"/>
          </a:xfrm>
          <a:prstGeom prst="rect">
            <a:avLst/>
          </a:prstGeom>
        </p:spPr>
        <p:txBody>
          <a:bodyPr lIns="0" tIns="0" rIns="0" bIns="0" rtlCol="0" anchor="t">
            <a:spAutoFit/>
          </a:bodyPr>
          <a:lstStyle/>
          <a:p>
            <a:pPr algn="ctr">
              <a:lnSpc>
                <a:spcPts val="3600"/>
              </a:lnSpc>
            </a:pPr>
            <a:r>
              <a:rPr lang="en-US" sz="3000" b="1">
                <a:solidFill>
                  <a:srgbClr val="000000"/>
                </a:solidFill>
                <a:latin typeface="Arimo Bold" panose="020B0704020202020204"/>
                <a:ea typeface="Arimo Bold" panose="020B0704020202020204"/>
                <a:cs typeface="Arimo Bold" panose="020B0704020202020204"/>
                <a:sym typeface="Arimo Bold" panose="020B0704020202020204"/>
              </a:rPr>
              <a:t>DEPARTMENT OF ELECTRICAL AND ELECTRONICS ENGINEERING</a:t>
            </a:r>
            <a:endParaRPr lang="en-US" sz="3000" b="1">
              <a:solidFill>
                <a:srgbClr val="000000"/>
              </a:solidFill>
              <a:latin typeface="Arimo Bold" panose="020B0704020202020204"/>
              <a:ea typeface="Arimo Bold" panose="020B0704020202020204"/>
              <a:cs typeface="Arimo Bold" panose="020B0704020202020204"/>
              <a:sym typeface="Arimo Bold" panose="020B0704020202020204"/>
            </a:endParaRPr>
          </a:p>
        </p:txBody>
      </p:sp>
      <p:sp>
        <p:nvSpPr>
          <p:cNvPr id="3" name="TextBox 3"/>
          <p:cNvSpPr txBox="1"/>
          <p:nvPr/>
        </p:nvSpPr>
        <p:spPr>
          <a:xfrm>
            <a:off x="152402" y="4838431"/>
            <a:ext cx="18105118" cy="876252"/>
          </a:xfrm>
          <a:prstGeom prst="rect">
            <a:avLst/>
          </a:prstGeom>
        </p:spPr>
        <p:txBody>
          <a:bodyPr lIns="0" tIns="0" rIns="0" bIns="0" rtlCol="0" anchor="t">
            <a:spAutoFit/>
          </a:bodyPr>
          <a:lstStyle/>
          <a:p>
            <a:pPr algn="ctr">
              <a:lnSpc>
                <a:spcPts val="5400"/>
              </a:lnSpc>
            </a:pPr>
            <a:r>
              <a:rPr lang="en-US" sz="4500">
                <a:solidFill>
                  <a:srgbClr val="4472C4"/>
                </a:solidFill>
                <a:latin typeface="Poppins" panose="00000500000000000000"/>
                <a:ea typeface="Poppins" panose="00000500000000000000"/>
                <a:cs typeface="Poppins" panose="00000500000000000000"/>
                <a:sym typeface="Poppins" panose="00000500000000000000"/>
              </a:rPr>
              <a:t>BATTERY VOLTAGE MONITOR</a:t>
            </a:r>
            <a:endParaRPr lang="en-US" sz="4500">
              <a:solidFill>
                <a:srgbClr val="4472C4"/>
              </a:solidFill>
              <a:latin typeface="Poppins" panose="00000500000000000000"/>
              <a:ea typeface="Poppins" panose="00000500000000000000"/>
              <a:cs typeface="Poppins" panose="00000500000000000000"/>
              <a:sym typeface="Poppins" panose="00000500000000000000"/>
            </a:endParaRPr>
          </a:p>
        </p:txBody>
      </p:sp>
      <p:grpSp>
        <p:nvGrpSpPr>
          <p:cNvPr id="6" name="Group 6"/>
          <p:cNvGrpSpPr/>
          <p:nvPr/>
        </p:nvGrpSpPr>
        <p:grpSpPr>
          <a:xfrm rot="0">
            <a:off x="353975" y="265476"/>
            <a:ext cx="4225385" cy="1437989"/>
            <a:chOff x="0" y="0"/>
            <a:chExt cx="5633847" cy="1917319"/>
          </a:xfrm>
        </p:grpSpPr>
        <p:sp>
          <p:nvSpPr>
            <p:cNvPr id="7" name="Freeform 7"/>
            <p:cNvSpPr/>
            <p:nvPr/>
          </p:nvSpPr>
          <p:spPr>
            <a:xfrm>
              <a:off x="0" y="0"/>
              <a:ext cx="5633847" cy="1917319"/>
            </a:xfrm>
            <a:custGeom>
              <a:avLst/>
              <a:gdLst/>
              <a:ahLst/>
              <a:cxnLst/>
              <a:rect l="l" t="t" r="r" b="b"/>
              <a:pathLst>
                <a:path w="5633847" h="1917319">
                  <a:moveTo>
                    <a:pt x="0" y="0"/>
                  </a:moveTo>
                  <a:lnTo>
                    <a:pt x="5633847" y="0"/>
                  </a:lnTo>
                  <a:lnTo>
                    <a:pt x="5633847" y="1917319"/>
                  </a:lnTo>
                  <a:lnTo>
                    <a:pt x="0" y="1917319"/>
                  </a:lnTo>
                  <a:lnTo>
                    <a:pt x="0" y="0"/>
                  </a:lnTo>
                  <a:close/>
                </a:path>
              </a:pathLst>
            </a:custGeom>
            <a:blipFill>
              <a:blip r:embed="rId1"/>
              <a:stretch>
                <a:fillRect t="-27112" b="-27112"/>
              </a:stretch>
            </a:blipFill>
          </p:spPr>
        </p:sp>
      </p:grpSp>
      <p:grpSp>
        <p:nvGrpSpPr>
          <p:cNvPr id="8" name="Group 8"/>
          <p:cNvGrpSpPr/>
          <p:nvPr/>
        </p:nvGrpSpPr>
        <p:grpSpPr>
          <a:xfrm rot="0">
            <a:off x="16923776" y="287592"/>
            <a:ext cx="1020508" cy="953833"/>
            <a:chOff x="0" y="0"/>
            <a:chExt cx="1360677" cy="1271777"/>
          </a:xfrm>
        </p:grpSpPr>
        <p:sp>
          <p:nvSpPr>
            <p:cNvPr id="9" name="Freeform 9"/>
            <p:cNvSpPr/>
            <p:nvPr/>
          </p:nvSpPr>
          <p:spPr>
            <a:xfrm>
              <a:off x="0" y="0"/>
              <a:ext cx="1360678" cy="1271778"/>
            </a:xfrm>
            <a:custGeom>
              <a:avLst/>
              <a:gdLst/>
              <a:ahLst/>
              <a:cxnLst/>
              <a:rect l="l" t="t" r="r" b="b"/>
              <a:pathLst>
                <a:path w="1360678" h="1271778">
                  <a:moveTo>
                    <a:pt x="0" y="0"/>
                  </a:moveTo>
                  <a:lnTo>
                    <a:pt x="1360678" y="0"/>
                  </a:lnTo>
                  <a:lnTo>
                    <a:pt x="1360678" y="1271778"/>
                  </a:lnTo>
                  <a:lnTo>
                    <a:pt x="0" y="1271778"/>
                  </a:lnTo>
                  <a:lnTo>
                    <a:pt x="0" y="0"/>
                  </a:lnTo>
                  <a:close/>
                </a:path>
              </a:pathLst>
            </a:custGeom>
            <a:blipFill>
              <a:blip r:embed="rId2"/>
              <a:stretch>
                <a:fillRect l="-60242" r="-60242"/>
              </a:stretch>
            </a:blipFill>
          </p:spPr>
        </p:sp>
      </p:grpSp>
      <p:grpSp>
        <p:nvGrpSpPr>
          <p:cNvPr id="10" name="Group 10"/>
          <p:cNvGrpSpPr/>
          <p:nvPr/>
        </p:nvGrpSpPr>
        <p:grpSpPr>
          <a:xfrm rot="0">
            <a:off x="8893278" y="403731"/>
            <a:ext cx="1469898" cy="1105186"/>
            <a:chOff x="0" y="0"/>
            <a:chExt cx="1959864" cy="1473581"/>
          </a:xfrm>
        </p:grpSpPr>
        <p:sp>
          <p:nvSpPr>
            <p:cNvPr id="11" name="Freeform 11"/>
            <p:cNvSpPr/>
            <p:nvPr/>
          </p:nvSpPr>
          <p:spPr>
            <a:xfrm>
              <a:off x="0" y="0"/>
              <a:ext cx="1959864" cy="1473581"/>
            </a:xfrm>
            <a:custGeom>
              <a:avLst/>
              <a:gdLst/>
              <a:ahLst/>
              <a:cxnLst/>
              <a:rect l="l" t="t" r="r" b="b"/>
              <a:pathLst>
                <a:path w="1959864" h="1473581">
                  <a:moveTo>
                    <a:pt x="0" y="0"/>
                  </a:moveTo>
                  <a:lnTo>
                    <a:pt x="1959864" y="0"/>
                  </a:lnTo>
                  <a:lnTo>
                    <a:pt x="1959864" y="1473581"/>
                  </a:lnTo>
                  <a:lnTo>
                    <a:pt x="0" y="1473581"/>
                  </a:lnTo>
                  <a:lnTo>
                    <a:pt x="0" y="0"/>
                  </a:lnTo>
                  <a:close/>
                </a:path>
              </a:pathLst>
            </a:custGeom>
            <a:blipFill>
              <a:blip r:embed="rId3"/>
              <a:stretch>
                <a:fillRect l="-37" r="-37"/>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56961" y="3078986"/>
            <a:ext cx="16266815" cy="5423293"/>
          </a:xfrm>
          <a:prstGeom prst="rect">
            <a:avLst/>
          </a:prstGeom>
        </p:spPr>
        <p:txBody>
          <a:bodyPr lIns="0" tIns="0" rIns="0" bIns="0" rtlCol="0" anchor="t">
            <a:spAutoFit/>
          </a:bodyPr>
          <a:lstStyle/>
          <a:p>
            <a:pPr marL="1029335" lvl="4" indent="-205740" algn="just">
              <a:lnSpc>
                <a:spcPts val="4965"/>
              </a:lnSpc>
              <a:buFont typeface="Arial" panose="020B0604020202020204"/>
              <a:buChar char="•"/>
            </a:pPr>
            <a:r>
              <a:rPr lang="en-US" sz="3165">
                <a:solidFill>
                  <a:srgbClr val="000000"/>
                </a:solidFill>
                <a:latin typeface="Times New Roman" panose="02020603050405020304"/>
                <a:ea typeface="Times New Roman" panose="02020603050405020304"/>
                <a:cs typeface="Times New Roman" panose="02020603050405020304"/>
                <a:sym typeface="Times New Roman" panose="02020603050405020304"/>
              </a:rPr>
              <a:t>The Battery Voltage Monitor is a simple and effective project designed to monitor the voltage levels of a battery using an LM339 comparator IC. The system visually indicates different voltage levels using LEDs, providing an easy way to check the battery's status. This project is crucial for applications where maintaining the battery within a specific voltage range is critical, such as in automotive or renewable energy systems. The project employs four LEDs, each corresponding to a different voltage level, to indicate whether the battery is fully charged, undercharged, or in a critical state. The design is compact, cost-effective, and easy to implement on a breadboard.</a:t>
            </a:r>
            <a:endParaRPr lang="en-US" sz="316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Freeform 3"/>
          <p:cNvSpPr/>
          <p:nvPr/>
        </p:nvSpPr>
        <p:spPr>
          <a:xfrm>
            <a:off x="309715" y="1930938"/>
            <a:ext cx="17675924" cy="747998"/>
          </a:xfrm>
          <a:custGeom>
            <a:avLst/>
            <a:gdLst/>
            <a:ahLst/>
            <a:cxnLst/>
            <a:rect l="l" t="t" r="r" b="b"/>
            <a:pathLst>
              <a:path w="17675924" h="747998">
                <a:moveTo>
                  <a:pt x="0" y="0"/>
                </a:moveTo>
                <a:lnTo>
                  <a:pt x="17675924" y="0"/>
                </a:lnTo>
                <a:lnTo>
                  <a:pt x="17675924" y="747998"/>
                </a:lnTo>
                <a:lnTo>
                  <a:pt x="0" y="747998"/>
                </a:lnTo>
                <a:lnTo>
                  <a:pt x="0" y="0"/>
                </a:lnTo>
                <a:close/>
              </a:path>
            </a:pathLst>
          </a:custGeom>
          <a:blipFill>
            <a:blip r:embed="rId1">
              <a:extLst>
                <a:ext uri="{96DAC541-7B7A-43D3-8B79-37D633B846F1}">
                  <asvg:svgBlip xmlns:asvg="http://schemas.microsoft.com/office/drawing/2016/SVG/main" r:embed="rId2"/>
                </a:ext>
              </a:extLst>
            </a:blip>
            <a:stretch>
              <a:fillRect t="-292" b="-292"/>
            </a:stretch>
          </a:blipFill>
        </p:spPr>
      </p:sp>
      <p:sp>
        <p:nvSpPr>
          <p:cNvPr id="4" name="Freeform 4"/>
          <p:cNvSpPr/>
          <p:nvPr/>
        </p:nvSpPr>
        <p:spPr>
          <a:xfrm>
            <a:off x="300190" y="1921413"/>
            <a:ext cx="17694974" cy="767048"/>
          </a:xfrm>
          <a:custGeom>
            <a:avLst/>
            <a:gdLst/>
            <a:ahLst/>
            <a:cxnLst/>
            <a:rect l="l" t="t" r="r" b="b"/>
            <a:pathLst>
              <a:path w="17694974" h="767048">
                <a:moveTo>
                  <a:pt x="0" y="0"/>
                </a:moveTo>
                <a:lnTo>
                  <a:pt x="17694974" y="0"/>
                </a:lnTo>
                <a:lnTo>
                  <a:pt x="17694974" y="767048"/>
                </a:lnTo>
                <a:lnTo>
                  <a:pt x="0" y="767048"/>
                </a:lnTo>
                <a:lnTo>
                  <a:pt x="0" y="0"/>
                </a:lnTo>
                <a:close/>
              </a:path>
            </a:pathLst>
          </a:custGeom>
          <a:blipFill>
            <a:blip r:embed="rId3">
              <a:extLst>
                <a:ext uri="{96DAC541-7B7A-43D3-8B79-37D633B846F1}">
                  <asvg:svgBlip xmlns:asvg="http://schemas.microsoft.com/office/drawing/2016/SVG/main" r:embed="rId4"/>
                </a:ext>
              </a:extLst>
            </a:blip>
            <a:stretch>
              <a:fillRect t="-284" b="-284"/>
            </a:stretch>
          </a:blipFill>
        </p:spPr>
      </p:sp>
      <p:sp>
        <p:nvSpPr>
          <p:cNvPr id="5" name="TextBox 5"/>
          <p:cNvSpPr txBox="1"/>
          <p:nvPr/>
        </p:nvSpPr>
        <p:spPr>
          <a:xfrm>
            <a:off x="392246" y="1888737"/>
            <a:ext cx="17593393" cy="647712"/>
          </a:xfrm>
          <a:prstGeom prst="rect">
            <a:avLst/>
          </a:prstGeom>
        </p:spPr>
        <p:txBody>
          <a:bodyPr lIns="0" tIns="0" rIns="0" bIns="0" rtlCol="0" anchor="t">
            <a:spAutoFit/>
          </a:bodyPr>
          <a:lstStyle/>
          <a:p>
            <a:pPr algn="ctr">
              <a:lnSpc>
                <a:spcPts val="5400"/>
              </a:lnSpc>
            </a:pPr>
            <a:r>
              <a:rPr lang="en-US" sz="3000" b="1">
                <a:solidFill>
                  <a:srgbClr val="000000"/>
                </a:solidFill>
                <a:latin typeface="Arimo Bold" panose="020B0704020202020204"/>
                <a:ea typeface="Arimo Bold" panose="020B0704020202020204"/>
                <a:cs typeface="Arimo Bold" panose="020B0704020202020204"/>
                <a:sym typeface="Arimo Bold" panose="020B0704020202020204"/>
              </a:rPr>
              <a:t>ABSTRACT</a:t>
            </a:r>
            <a:endParaRPr lang="en-US" sz="3000" b="1">
              <a:solidFill>
                <a:srgbClr val="000000"/>
              </a:solidFill>
              <a:latin typeface="Arimo Bold" panose="020B0704020202020204"/>
              <a:ea typeface="Arimo Bold" panose="020B0704020202020204"/>
              <a:cs typeface="Arimo Bold" panose="020B0704020202020204"/>
              <a:sym typeface="Arimo Bold" panose="020B0704020202020204"/>
            </a:endParaRPr>
          </a:p>
        </p:txBody>
      </p:sp>
      <p:grpSp>
        <p:nvGrpSpPr>
          <p:cNvPr id="6" name="Group 6"/>
          <p:cNvGrpSpPr/>
          <p:nvPr/>
        </p:nvGrpSpPr>
        <p:grpSpPr>
          <a:xfrm rot="0">
            <a:off x="353975" y="265476"/>
            <a:ext cx="4225385" cy="1437989"/>
            <a:chOff x="0" y="0"/>
            <a:chExt cx="5633847" cy="1917319"/>
          </a:xfrm>
        </p:grpSpPr>
        <p:sp>
          <p:nvSpPr>
            <p:cNvPr id="7" name="Freeform 7"/>
            <p:cNvSpPr/>
            <p:nvPr/>
          </p:nvSpPr>
          <p:spPr>
            <a:xfrm>
              <a:off x="0" y="0"/>
              <a:ext cx="5633847" cy="1917319"/>
            </a:xfrm>
            <a:custGeom>
              <a:avLst/>
              <a:gdLst/>
              <a:ahLst/>
              <a:cxnLst/>
              <a:rect l="l" t="t" r="r" b="b"/>
              <a:pathLst>
                <a:path w="5633847" h="1917319">
                  <a:moveTo>
                    <a:pt x="0" y="0"/>
                  </a:moveTo>
                  <a:lnTo>
                    <a:pt x="5633847" y="0"/>
                  </a:lnTo>
                  <a:lnTo>
                    <a:pt x="5633847" y="1917319"/>
                  </a:lnTo>
                  <a:lnTo>
                    <a:pt x="0" y="1917319"/>
                  </a:lnTo>
                  <a:lnTo>
                    <a:pt x="0" y="0"/>
                  </a:lnTo>
                  <a:close/>
                </a:path>
              </a:pathLst>
            </a:custGeom>
            <a:blipFill>
              <a:blip r:embed="rId5"/>
              <a:stretch>
                <a:fillRect t="-27112" b="-27112"/>
              </a:stretch>
            </a:blipFill>
          </p:spPr>
        </p:sp>
      </p:grpSp>
      <p:grpSp>
        <p:nvGrpSpPr>
          <p:cNvPr id="8" name="Group 8"/>
          <p:cNvGrpSpPr/>
          <p:nvPr/>
        </p:nvGrpSpPr>
        <p:grpSpPr>
          <a:xfrm rot="0">
            <a:off x="16923776" y="287592"/>
            <a:ext cx="1020508" cy="953833"/>
            <a:chOff x="0" y="0"/>
            <a:chExt cx="1360677" cy="1271777"/>
          </a:xfrm>
        </p:grpSpPr>
        <p:sp>
          <p:nvSpPr>
            <p:cNvPr id="9" name="Freeform 9"/>
            <p:cNvSpPr/>
            <p:nvPr/>
          </p:nvSpPr>
          <p:spPr>
            <a:xfrm>
              <a:off x="0" y="0"/>
              <a:ext cx="1360678" cy="1271778"/>
            </a:xfrm>
            <a:custGeom>
              <a:avLst/>
              <a:gdLst/>
              <a:ahLst/>
              <a:cxnLst/>
              <a:rect l="l" t="t" r="r" b="b"/>
              <a:pathLst>
                <a:path w="1360678" h="1271778">
                  <a:moveTo>
                    <a:pt x="0" y="0"/>
                  </a:moveTo>
                  <a:lnTo>
                    <a:pt x="1360678" y="0"/>
                  </a:lnTo>
                  <a:lnTo>
                    <a:pt x="1360678" y="1271778"/>
                  </a:lnTo>
                  <a:lnTo>
                    <a:pt x="0" y="1271778"/>
                  </a:lnTo>
                  <a:lnTo>
                    <a:pt x="0" y="0"/>
                  </a:lnTo>
                  <a:close/>
                </a:path>
              </a:pathLst>
            </a:custGeom>
            <a:blipFill>
              <a:blip r:embed="rId6"/>
              <a:stretch>
                <a:fillRect l="-60242" r="-60242"/>
              </a:stretch>
            </a:blipFill>
          </p:spPr>
        </p:sp>
      </p:grpSp>
      <p:grpSp>
        <p:nvGrpSpPr>
          <p:cNvPr id="10" name="Group 10"/>
          <p:cNvGrpSpPr/>
          <p:nvPr/>
        </p:nvGrpSpPr>
        <p:grpSpPr>
          <a:xfrm rot="0">
            <a:off x="8893278" y="403731"/>
            <a:ext cx="1469898" cy="1105186"/>
            <a:chOff x="0" y="0"/>
            <a:chExt cx="1959864" cy="1473581"/>
          </a:xfrm>
        </p:grpSpPr>
        <p:sp>
          <p:nvSpPr>
            <p:cNvPr id="11" name="Freeform 11"/>
            <p:cNvSpPr/>
            <p:nvPr/>
          </p:nvSpPr>
          <p:spPr>
            <a:xfrm>
              <a:off x="0" y="0"/>
              <a:ext cx="1959864" cy="1473581"/>
            </a:xfrm>
            <a:custGeom>
              <a:avLst/>
              <a:gdLst/>
              <a:ahLst/>
              <a:cxnLst/>
              <a:rect l="l" t="t" r="r" b="b"/>
              <a:pathLst>
                <a:path w="1959864" h="1473581">
                  <a:moveTo>
                    <a:pt x="0" y="0"/>
                  </a:moveTo>
                  <a:lnTo>
                    <a:pt x="1959864" y="0"/>
                  </a:lnTo>
                  <a:lnTo>
                    <a:pt x="1959864" y="1473581"/>
                  </a:lnTo>
                  <a:lnTo>
                    <a:pt x="0" y="1473581"/>
                  </a:lnTo>
                  <a:lnTo>
                    <a:pt x="0" y="0"/>
                  </a:lnTo>
                  <a:close/>
                </a:path>
              </a:pathLst>
            </a:custGeom>
            <a:blipFill>
              <a:blip r:embed="rId7"/>
              <a:stretch>
                <a:fillRect l="-37" r="-37"/>
              </a:stretch>
            </a:blipFill>
          </p:spPr>
        </p:sp>
      </p:gr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6687" y="1857918"/>
            <a:ext cx="17821970" cy="894045"/>
          </a:xfrm>
          <a:custGeom>
            <a:avLst/>
            <a:gdLst/>
            <a:ahLst/>
            <a:cxnLst/>
            <a:rect l="l" t="t" r="r" b="b"/>
            <a:pathLst>
              <a:path w="17821970" h="894045">
                <a:moveTo>
                  <a:pt x="0" y="0"/>
                </a:moveTo>
                <a:lnTo>
                  <a:pt x="17821970" y="0"/>
                </a:lnTo>
                <a:lnTo>
                  <a:pt x="17821970" y="894045"/>
                </a:lnTo>
                <a:lnTo>
                  <a:pt x="0" y="894045"/>
                </a:lnTo>
                <a:lnTo>
                  <a:pt x="0" y="0"/>
                </a:lnTo>
                <a:close/>
              </a:path>
            </a:pathLst>
          </a:custGeom>
          <a:blipFill>
            <a:blip r:embed="rId1">
              <a:extLst>
                <a:ext uri="{96DAC541-7B7A-43D3-8B79-37D633B846F1}">
                  <asvg:svgBlip xmlns:asvg="http://schemas.microsoft.com/office/drawing/2016/SVG/main" r:embed="rId2"/>
                </a:ext>
              </a:extLst>
            </a:blip>
            <a:stretch>
              <a:fillRect t="-580" b="-580"/>
            </a:stretch>
          </a:blipFill>
        </p:spPr>
      </p:sp>
      <p:grpSp>
        <p:nvGrpSpPr>
          <p:cNvPr id="3" name="Group 3"/>
          <p:cNvGrpSpPr/>
          <p:nvPr/>
        </p:nvGrpSpPr>
        <p:grpSpPr>
          <a:xfrm rot="0">
            <a:off x="353978" y="265481"/>
            <a:ext cx="4229100" cy="1438275"/>
            <a:chOff x="0" y="0"/>
            <a:chExt cx="5638800" cy="1917700"/>
          </a:xfrm>
        </p:grpSpPr>
        <p:sp>
          <p:nvSpPr>
            <p:cNvPr id="4" name="Freeform 4"/>
            <p:cNvSpPr/>
            <p:nvPr/>
          </p:nvSpPr>
          <p:spPr>
            <a:xfrm>
              <a:off x="0" y="0"/>
              <a:ext cx="5638800" cy="1917700"/>
            </a:xfrm>
            <a:custGeom>
              <a:avLst/>
              <a:gdLst/>
              <a:ahLst/>
              <a:cxnLst/>
              <a:rect l="l" t="t" r="r" b="b"/>
              <a:pathLst>
                <a:path w="5638800" h="1917700">
                  <a:moveTo>
                    <a:pt x="0" y="0"/>
                  </a:moveTo>
                  <a:lnTo>
                    <a:pt x="5638800" y="0"/>
                  </a:lnTo>
                  <a:lnTo>
                    <a:pt x="5638800" y="1917700"/>
                  </a:lnTo>
                  <a:lnTo>
                    <a:pt x="0" y="1917700"/>
                  </a:lnTo>
                  <a:lnTo>
                    <a:pt x="0" y="0"/>
                  </a:lnTo>
                  <a:close/>
                </a:path>
              </a:pathLst>
            </a:custGeom>
            <a:blipFill>
              <a:blip r:embed="rId3"/>
              <a:stretch>
                <a:fillRect t="-27165" b="-27165"/>
              </a:stretch>
            </a:blipFill>
          </p:spPr>
        </p:sp>
      </p:grpSp>
      <p:grpSp>
        <p:nvGrpSpPr>
          <p:cNvPr id="5" name="Group 5"/>
          <p:cNvGrpSpPr/>
          <p:nvPr/>
        </p:nvGrpSpPr>
        <p:grpSpPr>
          <a:xfrm rot="0">
            <a:off x="16923772" y="287588"/>
            <a:ext cx="1019175" cy="952500"/>
            <a:chOff x="0" y="0"/>
            <a:chExt cx="1358900" cy="1270000"/>
          </a:xfrm>
        </p:grpSpPr>
        <p:sp>
          <p:nvSpPr>
            <p:cNvPr id="6" name="Freeform 6"/>
            <p:cNvSpPr/>
            <p:nvPr/>
          </p:nvSpPr>
          <p:spPr>
            <a:xfrm>
              <a:off x="0" y="0"/>
              <a:ext cx="1358900" cy="1270000"/>
            </a:xfrm>
            <a:custGeom>
              <a:avLst/>
              <a:gdLst/>
              <a:ahLst/>
              <a:cxnLst/>
              <a:rect l="l" t="t" r="r" b="b"/>
              <a:pathLst>
                <a:path w="1358900" h="1270000">
                  <a:moveTo>
                    <a:pt x="0" y="0"/>
                  </a:moveTo>
                  <a:lnTo>
                    <a:pt x="1358900" y="0"/>
                  </a:lnTo>
                  <a:lnTo>
                    <a:pt x="1358900" y="1270000"/>
                  </a:lnTo>
                  <a:lnTo>
                    <a:pt x="0" y="1270000"/>
                  </a:lnTo>
                  <a:lnTo>
                    <a:pt x="0" y="0"/>
                  </a:lnTo>
                  <a:close/>
                </a:path>
              </a:pathLst>
            </a:custGeom>
            <a:blipFill>
              <a:blip r:embed="rId4"/>
              <a:stretch>
                <a:fillRect l="-60232" r="-60232"/>
              </a:stretch>
            </a:blipFill>
          </p:spPr>
        </p:sp>
      </p:grpSp>
      <p:grpSp>
        <p:nvGrpSpPr>
          <p:cNvPr id="7" name="Group 7"/>
          <p:cNvGrpSpPr/>
          <p:nvPr/>
        </p:nvGrpSpPr>
        <p:grpSpPr>
          <a:xfrm rot="0">
            <a:off x="8412728" y="431844"/>
            <a:ext cx="1466850" cy="1104900"/>
            <a:chOff x="0" y="0"/>
            <a:chExt cx="1955800" cy="1473200"/>
          </a:xfrm>
        </p:grpSpPr>
        <p:sp>
          <p:nvSpPr>
            <p:cNvPr id="8" name="Freeform 8"/>
            <p:cNvSpPr/>
            <p:nvPr/>
          </p:nvSpPr>
          <p:spPr>
            <a:xfrm>
              <a:off x="0" y="0"/>
              <a:ext cx="1955800" cy="1473200"/>
            </a:xfrm>
            <a:custGeom>
              <a:avLst/>
              <a:gdLst/>
              <a:ahLst/>
              <a:cxnLst/>
              <a:rect l="l" t="t" r="r" b="b"/>
              <a:pathLst>
                <a:path w="1955800" h="1473200">
                  <a:moveTo>
                    <a:pt x="0" y="0"/>
                  </a:moveTo>
                  <a:lnTo>
                    <a:pt x="1955800" y="0"/>
                  </a:lnTo>
                  <a:lnTo>
                    <a:pt x="1955800" y="1473200"/>
                  </a:lnTo>
                  <a:lnTo>
                    <a:pt x="0" y="1473200"/>
                  </a:lnTo>
                  <a:lnTo>
                    <a:pt x="0" y="0"/>
                  </a:lnTo>
                  <a:close/>
                </a:path>
              </a:pathLst>
            </a:custGeom>
            <a:blipFill>
              <a:blip r:embed="rId5"/>
              <a:stretch>
                <a:fillRect l="-128" r="-128"/>
              </a:stretch>
            </a:blipFill>
          </p:spPr>
        </p:sp>
      </p:grpSp>
      <p:sp>
        <p:nvSpPr>
          <p:cNvPr id="9" name="TextBox 9"/>
          <p:cNvSpPr txBox="1"/>
          <p:nvPr/>
        </p:nvSpPr>
        <p:spPr>
          <a:xfrm>
            <a:off x="4611315" y="1961388"/>
            <a:ext cx="9072715" cy="790575"/>
          </a:xfrm>
          <a:prstGeom prst="rect">
            <a:avLst/>
          </a:prstGeom>
        </p:spPr>
        <p:txBody>
          <a:bodyPr lIns="0" tIns="0" rIns="0" bIns="0" rtlCol="0" anchor="t">
            <a:spAutoFit/>
          </a:bodyPr>
          <a:lstStyle/>
          <a:p>
            <a:pPr algn="l">
              <a:lnSpc>
                <a:spcPts val="4200"/>
              </a:lnSpc>
            </a:pPr>
            <a:r>
              <a:rPr lang="en-US" sz="3000" b="1">
                <a:solidFill>
                  <a:srgbClr val="000000"/>
                </a:solidFill>
                <a:latin typeface="Arimo Bold" panose="020B0704020202020204"/>
                <a:ea typeface="Arimo Bold" panose="020B0704020202020204"/>
                <a:cs typeface="Arimo Bold" panose="020B0704020202020204"/>
                <a:sym typeface="Arimo Bold" panose="020B0704020202020204"/>
              </a:rPr>
              <a:t>IDENTIFICATION &amp; DEFINITION OF PROBLEM</a:t>
            </a:r>
            <a:endParaRPr lang="en-US" sz="3000" b="1">
              <a:solidFill>
                <a:srgbClr val="000000"/>
              </a:solidFill>
              <a:latin typeface="Arimo Bold" panose="020B0704020202020204"/>
              <a:ea typeface="Arimo Bold" panose="020B0704020202020204"/>
              <a:cs typeface="Arimo Bold" panose="020B0704020202020204"/>
              <a:sym typeface="Arimo Bold" panose="020B0704020202020204"/>
            </a:endParaRPr>
          </a:p>
        </p:txBody>
      </p:sp>
      <p:sp>
        <p:nvSpPr>
          <p:cNvPr id="10" name="TextBox 10"/>
          <p:cNvSpPr txBox="1"/>
          <p:nvPr/>
        </p:nvSpPr>
        <p:spPr>
          <a:xfrm>
            <a:off x="1202759" y="2885313"/>
            <a:ext cx="16230600" cy="1794454"/>
          </a:xfrm>
          <a:prstGeom prst="rect">
            <a:avLst/>
          </a:prstGeom>
        </p:spPr>
        <p:txBody>
          <a:bodyPr lIns="0" tIns="0" rIns="0" bIns="0" rtlCol="0" anchor="t">
            <a:spAutoFit/>
          </a:bodyPr>
          <a:lstStyle/>
          <a:p>
            <a:pPr marL="734060" lvl="1" indent="-367030" algn="l">
              <a:lnSpc>
                <a:spcPts val="7275"/>
              </a:lnSpc>
              <a:buFont typeface="Arial" panose="020B0604020202020204"/>
              <a:buChar char="•"/>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Monitoring battery voltage levels is essential to prevent damage due to overcharging or deep discharging.</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 name="TextBox 11"/>
          <p:cNvSpPr txBox="1"/>
          <p:nvPr/>
        </p:nvSpPr>
        <p:spPr>
          <a:xfrm>
            <a:off x="1192301" y="4698817"/>
            <a:ext cx="17095699" cy="2077658"/>
          </a:xfrm>
          <a:prstGeom prst="rect">
            <a:avLst/>
          </a:prstGeom>
        </p:spPr>
        <p:txBody>
          <a:bodyPr lIns="0" tIns="0" rIns="0" bIns="0" rtlCol="0" anchor="t">
            <a:spAutoFit/>
          </a:bodyPr>
          <a:lstStyle/>
          <a:p>
            <a:pPr marL="734060" lvl="1" indent="-367030" algn="l">
              <a:lnSpc>
                <a:spcPts val="8495"/>
              </a:lnSpc>
              <a:buFont typeface="Arial" panose="020B0604020202020204"/>
              <a:buChar char="•"/>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Many battery systems lack a simple visual indication of voltage status, which can</a:t>
            </a: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lead to inefficiency and potential failure in various applications.</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 name="TextBox 12"/>
          <p:cNvSpPr txBox="1"/>
          <p:nvPr/>
        </p:nvSpPr>
        <p:spPr>
          <a:xfrm>
            <a:off x="1196464" y="6785879"/>
            <a:ext cx="15895072" cy="2077658"/>
          </a:xfrm>
          <a:prstGeom prst="rect">
            <a:avLst/>
          </a:prstGeom>
        </p:spPr>
        <p:txBody>
          <a:bodyPr lIns="0" tIns="0" rIns="0" bIns="0" rtlCol="0" anchor="t">
            <a:spAutoFit/>
          </a:bodyPr>
          <a:lstStyle/>
          <a:p>
            <a:pPr marL="734060" lvl="1" indent="-367030" algn="l">
              <a:lnSpc>
                <a:spcPts val="8495"/>
              </a:lnSpc>
              <a:buFont typeface="Arial" panose="020B0604020202020204"/>
              <a:buChar char="•"/>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There is a need for a cost-effective and straightforward solution to monitor battery</a:t>
            </a: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voltage levels in real-time.</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5310" y="1850727"/>
            <a:ext cx="17821970" cy="894045"/>
          </a:xfrm>
          <a:custGeom>
            <a:avLst/>
            <a:gdLst/>
            <a:ahLst/>
            <a:cxnLst/>
            <a:rect l="l" t="t" r="r" b="b"/>
            <a:pathLst>
              <a:path w="17821970" h="894045">
                <a:moveTo>
                  <a:pt x="0" y="0"/>
                </a:moveTo>
                <a:lnTo>
                  <a:pt x="17821970" y="0"/>
                </a:lnTo>
                <a:lnTo>
                  <a:pt x="17821970" y="894045"/>
                </a:lnTo>
                <a:lnTo>
                  <a:pt x="0" y="894045"/>
                </a:lnTo>
                <a:lnTo>
                  <a:pt x="0" y="0"/>
                </a:lnTo>
                <a:close/>
              </a:path>
            </a:pathLst>
          </a:custGeom>
          <a:blipFill>
            <a:blip r:embed="rId1">
              <a:extLst>
                <a:ext uri="{96DAC541-7B7A-43D3-8B79-37D633B846F1}">
                  <asvg:svgBlip xmlns:asvg="http://schemas.microsoft.com/office/drawing/2016/SVG/main" r:embed="rId2"/>
                </a:ext>
              </a:extLst>
            </a:blip>
            <a:stretch>
              <a:fillRect t="-580" b="-580"/>
            </a:stretch>
          </a:blipFill>
        </p:spPr>
      </p:sp>
      <p:grpSp>
        <p:nvGrpSpPr>
          <p:cNvPr id="3" name="Group 3"/>
          <p:cNvGrpSpPr/>
          <p:nvPr/>
        </p:nvGrpSpPr>
        <p:grpSpPr>
          <a:xfrm rot="0">
            <a:off x="353978" y="265481"/>
            <a:ext cx="4229100" cy="1438275"/>
            <a:chOff x="0" y="0"/>
            <a:chExt cx="5638800" cy="1917700"/>
          </a:xfrm>
        </p:grpSpPr>
        <p:sp>
          <p:nvSpPr>
            <p:cNvPr id="4" name="Freeform 4"/>
            <p:cNvSpPr/>
            <p:nvPr/>
          </p:nvSpPr>
          <p:spPr>
            <a:xfrm>
              <a:off x="0" y="0"/>
              <a:ext cx="5638800" cy="1917700"/>
            </a:xfrm>
            <a:custGeom>
              <a:avLst/>
              <a:gdLst/>
              <a:ahLst/>
              <a:cxnLst/>
              <a:rect l="l" t="t" r="r" b="b"/>
              <a:pathLst>
                <a:path w="5638800" h="1917700">
                  <a:moveTo>
                    <a:pt x="0" y="0"/>
                  </a:moveTo>
                  <a:lnTo>
                    <a:pt x="5638800" y="0"/>
                  </a:lnTo>
                  <a:lnTo>
                    <a:pt x="5638800" y="1917700"/>
                  </a:lnTo>
                  <a:lnTo>
                    <a:pt x="0" y="1917700"/>
                  </a:lnTo>
                  <a:lnTo>
                    <a:pt x="0" y="0"/>
                  </a:lnTo>
                  <a:close/>
                </a:path>
              </a:pathLst>
            </a:custGeom>
            <a:blipFill>
              <a:blip r:embed="rId3"/>
              <a:stretch>
                <a:fillRect t="-27165" b="-27165"/>
              </a:stretch>
            </a:blipFill>
          </p:spPr>
        </p:sp>
      </p:grpSp>
      <p:grpSp>
        <p:nvGrpSpPr>
          <p:cNvPr id="5" name="Group 5"/>
          <p:cNvGrpSpPr/>
          <p:nvPr/>
        </p:nvGrpSpPr>
        <p:grpSpPr>
          <a:xfrm rot="0">
            <a:off x="16923772" y="287588"/>
            <a:ext cx="1019175" cy="952500"/>
            <a:chOff x="0" y="0"/>
            <a:chExt cx="1358900" cy="1270000"/>
          </a:xfrm>
        </p:grpSpPr>
        <p:sp>
          <p:nvSpPr>
            <p:cNvPr id="6" name="Freeform 6"/>
            <p:cNvSpPr/>
            <p:nvPr/>
          </p:nvSpPr>
          <p:spPr>
            <a:xfrm>
              <a:off x="0" y="0"/>
              <a:ext cx="1358900" cy="1270000"/>
            </a:xfrm>
            <a:custGeom>
              <a:avLst/>
              <a:gdLst/>
              <a:ahLst/>
              <a:cxnLst/>
              <a:rect l="l" t="t" r="r" b="b"/>
              <a:pathLst>
                <a:path w="1358900" h="1270000">
                  <a:moveTo>
                    <a:pt x="0" y="0"/>
                  </a:moveTo>
                  <a:lnTo>
                    <a:pt x="1358900" y="0"/>
                  </a:lnTo>
                  <a:lnTo>
                    <a:pt x="1358900" y="1270000"/>
                  </a:lnTo>
                  <a:lnTo>
                    <a:pt x="0" y="1270000"/>
                  </a:lnTo>
                  <a:lnTo>
                    <a:pt x="0" y="0"/>
                  </a:lnTo>
                  <a:close/>
                </a:path>
              </a:pathLst>
            </a:custGeom>
            <a:blipFill>
              <a:blip r:embed="rId4"/>
              <a:stretch>
                <a:fillRect l="-60232" r="-60232"/>
              </a:stretch>
            </a:blipFill>
          </p:spPr>
        </p:sp>
      </p:grpSp>
      <p:grpSp>
        <p:nvGrpSpPr>
          <p:cNvPr id="7" name="Group 7"/>
          <p:cNvGrpSpPr/>
          <p:nvPr/>
        </p:nvGrpSpPr>
        <p:grpSpPr>
          <a:xfrm rot="0">
            <a:off x="8893273" y="403736"/>
            <a:ext cx="1466850" cy="1104900"/>
            <a:chOff x="0" y="0"/>
            <a:chExt cx="1955800" cy="1473200"/>
          </a:xfrm>
        </p:grpSpPr>
        <p:sp>
          <p:nvSpPr>
            <p:cNvPr id="8" name="Freeform 8"/>
            <p:cNvSpPr/>
            <p:nvPr/>
          </p:nvSpPr>
          <p:spPr>
            <a:xfrm>
              <a:off x="0" y="0"/>
              <a:ext cx="1955800" cy="1473200"/>
            </a:xfrm>
            <a:custGeom>
              <a:avLst/>
              <a:gdLst/>
              <a:ahLst/>
              <a:cxnLst/>
              <a:rect l="l" t="t" r="r" b="b"/>
              <a:pathLst>
                <a:path w="1955800" h="1473200">
                  <a:moveTo>
                    <a:pt x="0" y="0"/>
                  </a:moveTo>
                  <a:lnTo>
                    <a:pt x="1955800" y="0"/>
                  </a:lnTo>
                  <a:lnTo>
                    <a:pt x="1955800" y="1473200"/>
                  </a:lnTo>
                  <a:lnTo>
                    <a:pt x="0" y="1473200"/>
                  </a:lnTo>
                  <a:lnTo>
                    <a:pt x="0" y="0"/>
                  </a:lnTo>
                  <a:close/>
                </a:path>
              </a:pathLst>
            </a:custGeom>
            <a:blipFill>
              <a:blip r:embed="rId5"/>
              <a:stretch>
                <a:fillRect l="-128" r="-128"/>
              </a:stretch>
            </a:blipFill>
          </p:spPr>
        </p:sp>
      </p:grpSp>
      <p:sp>
        <p:nvSpPr>
          <p:cNvPr id="9" name="Freeform 9"/>
          <p:cNvSpPr/>
          <p:nvPr/>
        </p:nvSpPr>
        <p:spPr>
          <a:xfrm>
            <a:off x="371475" y="7299931"/>
            <a:ext cx="152400" cy="152400"/>
          </a:xfrm>
          <a:custGeom>
            <a:avLst/>
            <a:gdLst/>
            <a:ahLst/>
            <a:cxnLst/>
            <a:rect l="l" t="t" r="r" b="b"/>
            <a:pathLst>
              <a:path w="152400" h="152400">
                <a:moveTo>
                  <a:pt x="0" y="0"/>
                </a:moveTo>
                <a:lnTo>
                  <a:pt x="152400" y="0"/>
                </a:lnTo>
                <a:lnTo>
                  <a:pt x="152400" y="152400"/>
                </a:lnTo>
                <a:lnTo>
                  <a:pt x="0" y="152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371475" y="3850481"/>
            <a:ext cx="152400" cy="152400"/>
          </a:xfrm>
          <a:custGeom>
            <a:avLst/>
            <a:gdLst/>
            <a:ahLst/>
            <a:cxnLst/>
            <a:rect l="l" t="t" r="r" b="b"/>
            <a:pathLst>
              <a:path w="152400" h="152400">
                <a:moveTo>
                  <a:pt x="0" y="0"/>
                </a:moveTo>
                <a:lnTo>
                  <a:pt x="152400" y="0"/>
                </a:lnTo>
                <a:lnTo>
                  <a:pt x="152400" y="152400"/>
                </a:lnTo>
                <a:lnTo>
                  <a:pt x="0" y="152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371475" y="5338448"/>
            <a:ext cx="152400" cy="152400"/>
          </a:xfrm>
          <a:custGeom>
            <a:avLst/>
            <a:gdLst/>
            <a:ahLst/>
            <a:cxnLst/>
            <a:rect l="l" t="t" r="r" b="b"/>
            <a:pathLst>
              <a:path w="152400" h="152400">
                <a:moveTo>
                  <a:pt x="0" y="0"/>
                </a:moveTo>
                <a:lnTo>
                  <a:pt x="152400" y="0"/>
                </a:lnTo>
                <a:lnTo>
                  <a:pt x="152400" y="152400"/>
                </a:lnTo>
                <a:lnTo>
                  <a:pt x="0" y="152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TextBox 12"/>
          <p:cNvSpPr txBox="1"/>
          <p:nvPr/>
        </p:nvSpPr>
        <p:spPr>
          <a:xfrm>
            <a:off x="5434008" y="1989156"/>
            <a:ext cx="9044730" cy="790575"/>
          </a:xfrm>
          <a:prstGeom prst="rect">
            <a:avLst/>
          </a:prstGeom>
        </p:spPr>
        <p:txBody>
          <a:bodyPr lIns="0" tIns="0" rIns="0" bIns="0" rtlCol="0" anchor="t">
            <a:spAutoFit/>
          </a:bodyPr>
          <a:lstStyle/>
          <a:p>
            <a:pPr algn="l">
              <a:lnSpc>
                <a:spcPts val="4200"/>
              </a:lnSpc>
            </a:pPr>
            <a:r>
              <a:rPr lang="en-US" sz="3000" b="1">
                <a:solidFill>
                  <a:srgbClr val="000000"/>
                </a:solidFill>
                <a:latin typeface="Arimo Bold" panose="020B0704020202020204"/>
                <a:ea typeface="Arimo Bold" panose="020B0704020202020204"/>
                <a:cs typeface="Arimo Bold" panose="020B0704020202020204"/>
                <a:sym typeface="Arimo Bold" panose="020B0704020202020204"/>
              </a:rPr>
              <a:t>IDENTIFICATION OF ALTERNATE SOLUTIONS</a:t>
            </a:r>
            <a:endParaRPr lang="en-US" sz="3000" b="1">
              <a:solidFill>
                <a:srgbClr val="000000"/>
              </a:solidFill>
              <a:latin typeface="Arimo Bold" panose="020B0704020202020204"/>
              <a:ea typeface="Arimo Bold" panose="020B0704020202020204"/>
              <a:cs typeface="Arimo Bold" panose="020B0704020202020204"/>
              <a:sym typeface="Arimo Bold" panose="020B0704020202020204"/>
            </a:endParaRPr>
          </a:p>
        </p:txBody>
      </p:sp>
      <p:sp>
        <p:nvSpPr>
          <p:cNvPr id="13" name="TextBox 13"/>
          <p:cNvSpPr txBox="1"/>
          <p:nvPr/>
        </p:nvSpPr>
        <p:spPr>
          <a:xfrm>
            <a:off x="839781" y="3674775"/>
            <a:ext cx="15690237" cy="1047109"/>
          </a:xfrm>
          <a:prstGeom prst="rect">
            <a:avLst/>
          </a:prstGeom>
        </p:spPr>
        <p:txBody>
          <a:bodyPr lIns="0" tIns="0" rIns="0" bIns="0" rtlCol="0" anchor="t">
            <a:spAutoFit/>
          </a:bodyPr>
          <a:lstStyle/>
          <a:p>
            <a:pPr algn="l">
              <a:lnSpc>
                <a:spcPts val="4760"/>
              </a:lnSpc>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Using a digital voltage meter to continuously measure the battery voltage.</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 name="TextBox 14"/>
          <p:cNvSpPr txBox="1"/>
          <p:nvPr/>
        </p:nvSpPr>
        <p:spPr>
          <a:xfrm>
            <a:off x="839781" y="5007933"/>
            <a:ext cx="16106985" cy="1651490"/>
          </a:xfrm>
          <a:prstGeom prst="rect">
            <a:avLst/>
          </a:prstGeom>
        </p:spPr>
        <p:txBody>
          <a:bodyPr lIns="0" tIns="0" rIns="0" bIns="0" rtlCol="0" anchor="t">
            <a:spAutoFit/>
          </a:bodyPr>
          <a:lstStyle/>
          <a:p>
            <a:pPr algn="l">
              <a:lnSpc>
                <a:spcPts val="4725"/>
              </a:lnSpc>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Implementing a microcontroller-based solution with an LCD display to show precise voltage levels.</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 name="TextBox 15"/>
          <p:cNvSpPr txBox="1"/>
          <p:nvPr/>
        </p:nvSpPr>
        <p:spPr>
          <a:xfrm>
            <a:off x="839781" y="6888023"/>
            <a:ext cx="16949261" cy="1651490"/>
          </a:xfrm>
          <a:prstGeom prst="rect">
            <a:avLst/>
          </a:prstGeom>
        </p:spPr>
        <p:txBody>
          <a:bodyPr lIns="0" tIns="0" rIns="0" bIns="0" rtlCol="0" anchor="t">
            <a:spAutoFit/>
          </a:bodyPr>
          <a:lstStyle/>
          <a:p>
            <a:pPr algn="l">
              <a:lnSpc>
                <a:spcPts val="4725"/>
              </a:lnSpc>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Developing a wireless voltage monitoring system that sends alerts when voltage levels fall outside safe limits.</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6687" y="1857918"/>
            <a:ext cx="17821970" cy="894045"/>
          </a:xfrm>
          <a:custGeom>
            <a:avLst/>
            <a:gdLst/>
            <a:ahLst/>
            <a:cxnLst/>
            <a:rect l="l" t="t" r="r" b="b"/>
            <a:pathLst>
              <a:path w="17821970" h="894045">
                <a:moveTo>
                  <a:pt x="0" y="0"/>
                </a:moveTo>
                <a:lnTo>
                  <a:pt x="17821970" y="0"/>
                </a:lnTo>
                <a:lnTo>
                  <a:pt x="17821970" y="894045"/>
                </a:lnTo>
                <a:lnTo>
                  <a:pt x="0" y="894045"/>
                </a:lnTo>
                <a:lnTo>
                  <a:pt x="0" y="0"/>
                </a:lnTo>
                <a:close/>
              </a:path>
            </a:pathLst>
          </a:custGeom>
          <a:blipFill>
            <a:blip r:embed="rId1">
              <a:extLst>
                <a:ext uri="{96DAC541-7B7A-43D3-8B79-37D633B846F1}">
                  <asvg:svgBlip xmlns:asvg="http://schemas.microsoft.com/office/drawing/2016/SVG/main" r:embed="rId2"/>
                </a:ext>
              </a:extLst>
            </a:blip>
            <a:stretch>
              <a:fillRect t="-580" b="-580"/>
            </a:stretch>
          </a:blipFill>
        </p:spPr>
      </p:sp>
      <p:grpSp>
        <p:nvGrpSpPr>
          <p:cNvPr id="3" name="Group 3"/>
          <p:cNvGrpSpPr/>
          <p:nvPr/>
        </p:nvGrpSpPr>
        <p:grpSpPr>
          <a:xfrm rot="0">
            <a:off x="353978" y="265481"/>
            <a:ext cx="4229100" cy="1438275"/>
            <a:chOff x="0" y="0"/>
            <a:chExt cx="5638800" cy="1917700"/>
          </a:xfrm>
        </p:grpSpPr>
        <p:sp>
          <p:nvSpPr>
            <p:cNvPr id="4" name="Freeform 4"/>
            <p:cNvSpPr/>
            <p:nvPr/>
          </p:nvSpPr>
          <p:spPr>
            <a:xfrm>
              <a:off x="0" y="0"/>
              <a:ext cx="5638800" cy="1917700"/>
            </a:xfrm>
            <a:custGeom>
              <a:avLst/>
              <a:gdLst/>
              <a:ahLst/>
              <a:cxnLst/>
              <a:rect l="l" t="t" r="r" b="b"/>
              <a:pathLst>
                <a:path w="5638800" h="1917700">
                  <a:moveTo>
                    <a:pt x="0" y="0"/>
                  </a:moveTo>
                  <a:lnTo>
                    <a:pt x="5638800" y="0"/>
                  </a:lnTo>
                  <a:lnTo>
                    <a:pt x="5638800" y="1917700"/>
                  </a:lnTo>
                  <a:lnTo>
                    <a:pt x="0" y="1917700"/>
                  </a:lnTo>
                  <a:lnTo>
                    <a:pt x="0" y="0"/>
                  </a:lnTo>
                  <a:close/>
                </a:path>
              </a:pathLst>
            </a:custGeom>
            <a:blipFill>
              <a:blip r:embed="rId3"/>
              <a:stretch>
                <a:fillRect t="-27165" b="-27165"/>
              </a:stretch>
            </a:blipFill>
          </p:spPr>
        </p:sp>
      </p:grpSp>
      <p:grpSp>
        <p:nvGrpSpPr>
          <p:cNvPr id="5" name="Group 5"/>
          <p:cNvGrpSpPr/>
          <p:nvPr/>
        </p:nvGrpSpPr>
        <p:grpSpPr>
          <a:xfrm rot="0">
            <a:off x="16923772" y="287588"/>
            <a:ext cx="1019175" cy="952500"/>
            <a:chOff x="0" y="0"/>
            <a:chExt cx="1358900" cy="1270000"/>
          </a:xfrm>
        </p:grpSpPr>
        <p:sp>
          <p:nvSpPr>
            <p:cNvPr id="6" name="Freeform 6"/>
            <p:cNvSpPr/>
            <p:nvPr/>
          </p:nvSpPr>
          <p:spPr>
            <a:xfrm>
              <a:off x="0" y="0"/>
              <a:ext cx="1358900" cy="1270000"/>
            </a:xfrm>
            <a:custGeom>
              <a:avLst/>
              <a:gdLst/>
              <a:ahLst/>
              <a:cxnLst/>
              <a:rect l="l" t="t" r="r" b="b"/>
              <a:pathLst>
                <a:path w="1358900" h="1270000">
                  <a:moveTo>
                    <a:pt x="0" y="0"/>
                  </a:moveTo>
                  <a:lnTo>
                    <a:pt x="1358900" y="0"/>
                  </a:lnTo>
                  <a:lnTo>
                    <a:pt x="1358900" y="1270000"/>
                  </a:lnTo>
                  <a:lnTo>
                    <a:pt x="0" y="1270000"/>
                  </a:lnTo>
                  <a:lnTo>
                    <a:pt x="0" y="0"/>
                  </a:lnTo>
                  <a:close/>
                </a:path>
              </a:pathLst>
            </a:custGeom>
            <a:blipFill>
              <a:blip r:embed="rId4"/>
              <a:stretch>
                <a:fillRect l="-60232" r="-60232"/>
              </a:stretch>
            </a:blipFill>
          </p:spPr>
        </p:sp>
      </p:grpSp>
      <p:grpSp>
        <p:nvGrpSpPr>
          <p:cNvPr id="7" name="Group 7"/>
          <p:cNvGrpSpPr/>
          <p:nvPr/>
        </p:nvGrpSpPr>
        <p:grpSpPr>
          <a:xfrm rot="0">
            <a:off x="8893273" y="403736"/>
            <a:ext cx="1466850" cy="1104900"/>
            <a:chOff x="0" y="0"/>
            <a:chExt cx="1955800" cy="1473200"/>
          </a:xfrm>
        </p:grpSpPr>
        <p:sp>
          <p:nvSpPr>
            <p:cNvPr id="8" name="Freeform 8"/>
            <p:cNvSpPr/>
            <p:nvPr/>
          </p:nvSpPr>
          <p:spPr>
            <a:xfrm>
              <a:off x="0" y="0"/>
              <a:ext cx="1955800" cy="1473200"/>
            </a:xfrm>
            <a:custGeom>
              <a:avLst/>
              <a:gdLst/>
              <a:ahLst/>
              <a:cxnLst/>
              <a:rect l="l" t="t" r="r" b="b"/>
              <a:pathLst>
                <a:path w="1955800" h="1473200">
                  <a:moveTo>
                    <a:pt x="0" y="0"/>
                  </a:moveTo>
                  <a:lnTo>
                    <a:pt x="1955800" y="0"/>
                  </a:lnTo>
                  <a:lnTo>
                    <a:pt x="1955800" y="1473200"/>
                  </a:lnTo>
                  <a:lnTo>
                    <a:pt x="0" y="1473200"/>
                  </a:lnTo>
                  <a:lnTo>
                    <a:pt x="0" y="0"/>
                  </a:lnTo>
                  <a:close/>
                </a:path>
              </a:pathLst>
            </a:custGeom>
            <a:blipFill>
              <a:blip r:embed="rId5"/>
              <a:stretch>
                <a:fillRect l="-128" r="-128"/>
              </a:stretch>
            </a:blipFill>
          </p:spPr>
        </p:sp>
      </p:grpSp>
      <p:sp>
        <p:nvSpPr>
          <p:cNvPr id="9" name="Freeform 9"/>
          <p:cNvSpPr/>
          <p:nvPr/>
        </p:nvSpPr>
        <p:spPr>
          <a:xfrm>
            <a:off x="371475" y="3773986"/>
            <a:ext cx="152400" cy="152400"/>
          </a:xfrm>
          <a:custGeom>
            <a:avLst/>
            <a:gdLst/>
            <a:ahLst/>
            <a:cxnLst/>
            <a:rect l="l" t="t" r="r" b="b"/>
            <a:pathLst>
              <a:path w="152400" h="152400">
                <a:moveTo>
                  <a:pt x="0" y="0"/>
                </a:moveTo>
                <a:lnTo>
                  <a:pt x="152400" y="0"/>
                </a:lnTo>
                <a:lnTo>
                  <a:pt x="152400" y="152400"/>
                </a:lnTo>
                <a:lnTo>
                  <a:pt x="0" y="152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a:off x="371475" y="7787459"/>
            <a:ext cx="152400" cy="152400"/>
          </a:xfrm>
          <a:custGeom>
            <a:avLst/>
            <a:gdLst/>
            <a:ahLst/>
            <a:cxnLst/>
            <a:rect l="l" t="t" r="r" b="b"/>
            <a:pathLst>
              <a:path w="152400" h="152400">
                <a:moveTo>
                  <a:pt x="0" y="0"/>
                </a:moveTo>
                <a:lnTo>
                  <a:pt x="152400" y="0"/>
                </a:lnTo>
                <a:lnTo>
                  <a:pt x="152400" y="152400"/>
                </a:lnTo>
                <a:lnTo>
                  <a:pt x="0" y="152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375161" y="5778341"/>
            <a:ext cx="152400" cy="152400"/>
          </a:xfrm>
          <a:custGeom>
            <a:avLst/>
            <a:gdLst/>
            <a:ahLst/>
            <a:cxnLst/>
            <a:rect l="l" t="t" r="r" b="b"/>
            <a:pathLst>
              <a:path w="152400" h="152400">
                <a:moveTo>
                  <a:pt x="0" y="0"/>
                </a:moveTo>
                <a:lnTo>
                  <a:pt x="152400" y="0"/>
                </a:lnTo>
                <a:lnTo>
                  <a:pt x="152400" y="152400"/>
                </a:lnTo>
                <a:lnTo>
                  <a:pt x="0" y="152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TextBox 12"/>
          <p:cNvSpPr txBox="1"/>
          <p:nvPr/>
        </p:nvSpPr>
        <p:spPr>
          <a:xfrm>
            <a:off x="7607342" y="1961388"/>
            <a:ext cx="4482341" cy="790575"/>
          </a:xfrm>
          <a:prstGeom prst="rect">
            <a:avLst/>
          </a:prstGeom>
        </p:spPr>
        <p:txBody>
          <a:bodyPr lIns="0" tIns="0" rIns="0" bIns="0" rtlCol="0" anchor="t">
            <a:spAutoFit/>
          </a:bodyPr>
          <a:lstStyle/>
          <a:p>
            <a:pPr algn="l">
              <a:lnSpc>
                <a:spcPts val="4200"/>
              </a:lnSpc>
            </a:pPr>
            <a:r>
              <a:rPr lang="en-US" sz="3000" b="1">
                <a:solidFill>
                  <a:srgbClr val="000000"/>
                </a:solidFill>
                <a:latin typeface="Arimo Bold" panose="020B0704020202020204"/>
                <a:ea typeface="Arimo Bold" panose="020B0704020202020204"/>
                <a:cs typeface="Arimo Bold" panose="020B0704020202020204"/>
                <a:sym typeface="Arimo Bold" panose="020B0704020202020204"/>
              </a:rPr>
              <a:t>PROJECT OBJECTIVES</a:t>
            </a:r>
            <a:endParaRPr lang="en-US" sz="3000" b="1">
              <a:solidFill>
                <a:srgbClr val="000000"/>
              </a:solidFill>
              <a:latin typeface="Arimo Bold" panose="020B0704020202020204"/>
              <a:ea typeface="Arimo Bold" panose="020B0704020202020204"/>
              <a:cs typeface="Arimo Bold" panose="020B0704020202020204"/>
              <a:sym typeface="Arimo Bold" panose="020B0704020202020204"/>
            </a:endParaRPr>
          </a:p>
        </p:txBody>
      </p:sp>
      <p:sp>
        <p:nvSpPr>
          <p:cNvPr id="13" name="TextBox 13"/>
          <p:cNvSpPr txBox="1"/>
          <p:nvPr/>
        </p:nvSpPr>
        <p:spPr>
          <a:xfrm>
            <a:off x="734025" y="5511201"/>
            <a:ext cx="15073103" cy="1651490"/>
          </a:xfrm>
          <a:prstGeom prst="rect">
            <a:avLst/>
          </a:prstGeom>
        </p:spPr>
        <p:txBody>
          <a:bodyPr lIns="0" tIns="0" rIns="0" bIns="0" rtlCol="0" anchor="t">
            <a:spAutoFit/>
          </a:bodyPr>
          <a:lstStyle/>
          <a:p>
            <a:pPr algn="l">
              <a:lnSpc>
                <a:spcPts val="4725"/>
              </a:lnSpc>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To ensure that the system provides real-time feedback on the battery's condition (charged, undercharged, critical).</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 name="TextBox 14"/>
          <p:cNvSpPr txBox="1"/>
          <p:nvPr/>
        </p:nvSpPr>
        <p:spPr>
          <a:xfrm>
            <a:off x="734025" y="3640636"/>
            <a:ext cx="16358140" cy="1651490"/>
          </a:xfrm>
          <a:prstGeom prst="rect">
            <a:avLst/>
          </a:prstGeom>
        </p:spPr>
        <p:txBody>
          <a:bodyPr lIns="0" tIns="0" rIns="0" bIns="0" rtlCol="0" anchor="t">
            <a:spAutoFit/>
          </a:bodyPr>
          <a:lstStyle/>
          <a:p>
            <a:pPr algn="l">
              <a:lnSpc>
                <a:spcPts val="4725"/>
              </a:lnSpc>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To design a simple battery voltage monitoring system that indicates different voltage levels using LEDs.</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 name="TextBox 15"/>
          <p:cNvSpPr txBox="1"/>
          <p:nvPr/>
        </p:nvSpPr>
        <p:spPr>
          <a:xfrm>
            <a:off x="734025" y="7562741"/>
            <a:ext cx="16997001" cy="1651490"/>
          </a:xfrm>
          <a:prstGeom prst="rect">
            <a:avLst/>
          </a:prstGeom>
        </p:spPr>
        <p:txBody>
          <a:bodyPr lIns="0" tIns="0" rIns="0" bIns="0" rtlCol="0" anchor="t">
            <a:spAutoFit/>
          </a:bodyPr>
          <a:lstStyle/>
          <a:p>
            <a:pPr algn="l">
              <a:lnSpc>
                <a:spcPts val="4725"/>
              </a:lnSpc>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To build a low-cost, reliable, and easy-to-use device using an LM339 comparator and other basic electronic components.</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9715" y="1930938"/>
            <a:ext cx="17675924" cy="747998"/>
          </a:xfrm>
          <a:custGeom>
            <a:avLst/>
            <a:gdLst/>
            <a:ahLst/>
            <a:cxnLst/>
            <a:rect l="l" t="t" r="r" b="b"/>
            <a:pathLst>
              <a:path w="17675924" h="747998">
                <a:moveTo>
                  <a:pt x="0" y="0"/>
                </a:moveTo>
                <a:lnTo>
                  <a:pt x="17675924" y="0"/>
                </a:lnTo>
                <a:lnTo>
                  <a:pt x="17675924" y="747998"/>
                </a:lnTo>
                <a:lnTo>
                  <a:pt x="0" y="747998"/>
                </a:lnTo>
                <a:lnTo>
                  <a:pt x="0" y="0"/>
                </a:lnTo>
                <a:close/>
              </a:path>
            </a:pathLst>
          </a:custGeom>
          <a:blipFill>
            <a:blip r:embed="rId1">
              <a:extLst>
                <a:ext uri="{96DAC541-7B7A-43D3-8B79-37D633B846F1}">
                  <asvg:svgBlip xmlns:asvg="http://schemas.microsoft.com/office/drawing/2016/SVG/main" r:embed="rId2"/>
                </a:ext>
              </a:extLst>
            </a:blip>
            <a:stretch>
              <a:fillRect t="-292" b="-292"/>
            </a:stretch>
          </a:blipFill>
        </p:spPr>
      </p:sp>
      <p:sp>
        <p:nvSpPr>
          <p:cNvPr id="3" name="Freeform 3"/>
          <p:cNvSpPr/>
          <p:nvPr/>
        </p:nvSpPr>
        <p:spPr>
          <a:xfrm>
            <a:off x="300190" y="1921413"/>
            <a:ext cx="17694974" cy="767048"/>
          </a:xfrm>
          <a:custGeom>
            <a:avLst/>
            <a:gdLst/>
            <a:ahLst/>
            <a:cxnLst/>
            <a:rect l="l" t="t" r="r" b="b"/>
            <a:pathLst>
              <a:path w="17694974" h="767048">
                <a:moveTo>
                  <a:pt x="0" y="0"/>
                </a:moveTo>
                <a:lnTo>
                  <a:pt x="17694974" y="0"/>
                </a:lnTo>
                <a:lnTo>
                  <a:pt x="17694974" y="767048"/>
                </a:lnTo>
                <a:lnTo>
                  <a:pt x="0" y="767048"/>
                </a:lnTo>
                <a:lnTo>
                  <a:pt x="0" y="0"/>
                </a:lnTo>
                <a:close/>
              </a:path>
            </a:pathLst>
          </a:custGeom>
          <a:blipFill>
            <a:blip r:embed="rId3">
              <a:extLst>
                <a:ext uri="{96DAC541-7B7A-43D3-8B79-37D633B846F1}">
                  <asvg:svgBlip xmlns:asvg="http://schemas.microsoft.com/office/drawing/2016/SVG/main" r:embed="rId4"/>
                </a:ext>
              </a:extLst>
            </a:blip>
            <a:stretch>
              <a:fillRect t="-284" b="-284"/>
            </a:stretch>
          </a:blipFill>
        </p:spPr>
      </p:sp>
      <p:grpSp>
        <p:nvGrpSpPr>
          <p:cNvPr id="4" name="Group 4"/>
          <p:cNvGrpSpPr/>
          <p:nvPr/>
        </p:nvGrpSpPr>
        <p:grpSpPr>
          <a:xfrm rot="0">
            <a:off x="353975" y="265476"/>
            <a:ext cx="4225385" cy="1437989"/>
            <a:chOff x="0" y="0"/>
            <a:chExt cx="5633847" cy="1917319"/>
          </a:xfrm>
        </p:grpSpPr>
        <p:sp>
          <p:nvSpPr>
            <p:cNvPr id="5" name="Freeform 5"/>
            <p:cNvSpPr/>
            <p:nvPr/>
          </p:nvSpPr>
          <p:spPr>
            <a:xfrm>
              <a:off x="0" y="0"/>
              <a:ext cx="5633847" cy="1917319"/>
            </a:xfrm>
            <a:custGeom>
              <a:avLst/>
              <a:gdLst/>
              <a:ahLst/>
              <a:cxnLst/>
              <a:rect l="l" t="t" r="r" b="b"/>
              <a:pathLst>
                <a:path w="5633847" h="1917319">
                  <a:moveTo>
                    <a:pt x="0" y="0"/>
                  </a:moveTo>
                  <a:lnTo>
                    <a:pt x="5633847" y="0"/>
                  </a:lnTo>
                  <a:lnTo>
                    <a:pt x="5633847" y="1917319"/>
                  </a:lnTo>
                  <a:lnTo>
                    <a:pt x="0" y="1917319"/>
                  </a:lnTo>
                  <a:lnTo>
                    <a:pt x="0" y="0"/>
                  </a:lnTo>
                  <a:close/>
                </a:path>
              </a:pathLst>
            </a:custGeom>
            <a:blipFill>
              <a:blip r:embed="rId5"/>
              <a:stretch>
                <a:fillRect t="-27112" b="-27112"/>
              </a:stretch>
            </a:blipFill>
          </p:spPr>
        </p:sp>
      </p:grpSp>
      <p:grpSp>
        <p:nvGrpSpPr>
          <p:cNvPr id="6" name="Group 6"/>
          <p:cNvGrpSpPr/>
          <p:nvPr/>
        </p:nvGrpSpPr>
        <p:grpSpPr>
          <a:xfrm rot="0">
            <a:off x="16923776" y="287592"/>
            <a:ext cx="1020508" cy="953833"/>
            <a:chOff x="0" y="0"/>
            <a:chExt cx="1360677" cy="1271777"/>
          </a:xfrm>
        </p:grpSpPr>
        <p:sp>
          <p:nvSpPr>
            <p:cNvPr id="7" name="Freeform 7"/>
            <p:cNvSpPr/>
            <p:nvPr/>
          </p:nvSpPr>
          <p:spPr>
            <a:xfrm>
              <a:off x="0" y="0"/>
              <a:ext cx="1360678" cy="1271778"/>
            </a:xfrm>
            <a:custGeom>
              <a:avLst/>
              <a:gdLst/>
              <a:ahLst/>
              <a:cxnLst/>
              <a:rect l="l" t="t" r="r" b="b"/>
              <a:pathLst>
                <a:path w="1360678" h="1271778">
                  <a:moveTo>
                    <a:pt x="0" y="0"/>
                  </a:moveTo>
                  <a:lnTo>
                    <a:pt x="1360678" y="0"/>
                  </a:lnTo>
                  <a:lnTo>
                    <a:pt x="1360678" y="1271778"/>
                  </a:lnTo>
                  <a:lnTo>
                    <a:pt x="0" y="1271778"/>
                  </a:lnTo>
                  <a:lnTo>
                    <a:pt x="0" y="0"/>
                  </a:lnTo>
                  <a:close/>
                </a:path>
              </a:pathLst>
            </a:custGeom>
            <a:blipFill>
              <a:blip r:embed="rId6"/>
              <a:stretch>
                <a:fillRect l="-60242" r="-60242"/>
              </a:stretch>
            </a:blipFill>
          </p:spPr>
        </p:sp>
      </p:grpSp>
      <p:grpSp>
        <p:nvGrpSpPr>
          <p:cNvPr id="8" name="Group 8"/>
          <p:cNvGrpSpPr/>
          <p:nvPr/>
        </p:nvGrpSpPr>
        <p:grpSpPr>
          <a:xfrm rot="0">
            <a:off x="8893278" y="403731"/>
            <a:ext cx="1469898" cy="1105186"/>
            <a:chOff x="0" y="0"/>
            <a:chExt cx="1959864" cy="1473581"/>
          </a:xfrm>
        </p:grpSpPr>
        <p:sp>
          <p:nvSpPr>
            <p:cNvPr id="9" name="Freeform 9"/>
            <p:cNvSpPr/>
            <p:nvPr/>
          </p:nvSpPr>
          <p:spPr>
            <a:xfrm>
              <a:off x="0" y="0"/>
              <a:ext cx="1959864" cy="1473581"/>
            </a:xfrm>
            <a:custGeom>
              <a:avLst/>
              <a:gdLst/>
              <a:ahLst/>
              <a:cxnLst/>
              <a:rect l="l" t="t" r="r" b="b"/>
              <a:pathLst>
                <a:path w="1959864" h="1473581">
                  <a:moveTo>
                    <a:pt x="0" y="0"/>
                  </a:moveTo>
                  <a:lnTo>
                    <a:pt x="1959864" y="0"/>
                  </a:lnTo>
                  <a:lnTo>
                    <a:pt x="1959864" y="1473581"/>
                  </a:lnTo>
                  <a:lnTo>
                    <a:pt x="0" y="1473581"/>
                  </a:lnTo>
                  <a:lnTo>
                    <a:pt x="0" y="0"/>
                  </a:lnTo>
                  <a:close/>
                </a:path>
              </a:pathLst>
            </a:custGeom>
            <a:blipFill>
              <a:blip r:embed="rId7"/>
              <a:stretch>
                <a:fillRect l="-37" r="-37"/>
              </a:stretch>
            </a:blipFill>
          </p:spPr>
        </p:sp>
      </p:grpSp>
      <p:grpSp>
        <p:nvGrpSpPr>
          <p:cNvPr id="10" name="Group 10"/>
          <p:cNvGrpSpPr/>
          <p:nvPr/>
        </p:nvGrpSpPr>
        <p:grpSpPr>
          <a:xfrm rot="0">
            <a:off x="5663518" y="2738101"/>
            <a:ext cx="6283167" cy="7548943"/>
            <a:chOff x="0" y="0"/>
            <a:chExt cx="8377555" cy="10065258"/>
          </a:xfrm>
        </p:grpSpPr>
        <p:sp>
          <p:nvSpPr>
            <p:cNvPr id="11" name="Freeform 11"/>
            <p:cNvSpPr/>
            <p:nvPr/>
          </p:nvSpPr>
          <p:spPr>
            <a:xfrm>
              <a:off x="0" y="0"/>
              <a:ext cx="8377555" cy="10065258"/>
            </a:xfrm>
            <a:custGeom>
              <a:avLst/>
              <a:gdLst/>
              <a:ahLst/>
              <a:cxnLst/>
              <a:rect l="l" t="t" r="r" b="b"/>
              <a:pathLst>
                <a:path w="8377555" h="10065258">
                  <a:moveTo>
                    <a:pt x="0" y="0"/>
                  </a:moveTo>
                  <a:lnTo>
                    <a:pt x="8377555" y="0"/>
                  </a:lnTo>
                  <a:lnTo>
                    <a:pt x="8377555" y="10065258"/>
                  </a:lnTo>
                  <a:lnTo>
                    <a:pt x="0" y="10065258"/>
                  </a:lnTo>
                  <a:lnTo>
                    <a:pt x="0" y="0"/>
                  </a:lnTo>
                  <a:close/>
                </a:path>
              </a:pathLst>
            </a:custGeom>
            <a:blipFill>
              <a:blip r:embed="rId8"/>
              <a:stretch>
                <a:fillRect t="-9451" b="-9451"/>
              </a:stretch>
            </a:blipFill>
          </p:spPr>
        </p:sp>
      </p:grpSp>
      <p:grpSp>
        <p:nvGrpSpPr>
          <p:cNvPr id="12" name="Group 12"/>
          <p:cNvGrpSpPr/>
          <p:nvPr/>
        </p:nvGrpSpPr>
        <p:grpSpPr>
          <a:xfrm rot="0">
            <a:off x="1629410" y="2679065"/>
            <a:ext cx="4406900" cy="7539990"/>
            <a:chOff x="0" y="0"/>
            <a:chExt cx="5875528" cy="10990072"/>
          </a:xfrm>
        </p:grpSpPr>
        <p:sp>
          <p:nvSpPr>
            <p:cNvPr id="13" name="Freeform 13"/>
            <p:cNvSpPr/>
            <p:nvPr/>
          </p:nvSpPr>
          <p:spPr>
            <a:xfrm>
              <a:off x="0" y="0"/>
              <a:ext cx="5875528" cy="10990072"/>
            </a:xfrm>
            <a:custGeom>
              <a:avLst/>
              <a:gdLst/>
              <a:ahLst/>
              <a:cxnLst/>
              <a:rect l="l" t="t" r="r" b="b"/>
              <a:pathLst>
                <a:path w="5875528" h="10990072">
                  <a:moveTo>
                    <a:pt x="0" y="0"/>
                  </a:moveTo>
                  <a:lnTo>
                    <a:pt x="5875528" y="0"/>
                  </a:lnTo>
                  <a:lnTo>
                    <a:pt x="5875528" y="10990072"/>
                  </a:lnTo>
                  <a:lnTo>
                    <a:pt x="0" y="10990072"/>
                  </a:lnTo>
                  <a:lnTo>
                    <a:pt x="0" y="0"/>
                  </a:lnTo>
                  <a:close/>
                </a:path>
              </a:pathLst>
            </a:custGeom>
            <a:blipFill>
              <a:blip r:embed="rId9"/>
              <a:stretch>
                <a:fillRect l="-121171" r="-121171"/>
              </a:stretch>
            </a:blipFill>
          </p:spPr>
        </p:sp>
      </p:grpSp>
      <p:sp>
        <p:nvSpPr>
          <p:cNvPr id="14" name="TextBox 14"/>
          <p:cNvSpPr txBox="1"/>
          <p:nvPr/>
        </p:nvSpPr>
        <p:spPr>
          <a:xfrm>
            <a:off x="392246" y="1900113"/>
            <a:ext cx="17593393" cy="1028652"/>
          </a:xfrm>
          <a:prstGeom prst="rect">
            <a:avLst/>
          </a:prstGeom>
        </p:spPr>
        <p:txBody>
          <a:bodyPr lIns="0" tIns="0" rIns="0" bIns="0" rtlCol="0" anchor="t">
            <a:spAutoFit/>
          </a:bodyPr>
          <a:lstStyle/>
          <a:p>
            <a:pPr algn="ctr">
              <a:lnSpc>
                <a:spcPts val="5400"/>
              </a:lnSpc>
            </a:pPr>
            <a:r>
              <a:rPr lang="en-US" sz="3000" b="1">
                <a:solidFill>
                  <a:srgbClr val="000000"/>
                </a:solidFill>
                <a:latin typeface="Arimo Bold" panose="020B0704020202020204"/>
                <a:ea typeface="Arimo Bold" panose="020B0704020202020204"/>
                <a:cs typeface="Arimo Bold" panose="020B0704020202020204"/>
                <a:sym typeface="Arimo Bold" panose="020B0704020202020204"/>
              </a:rPr>
              <a:t>CIRCUIT DIAGRAM</a:t>
            </a:r>
            <a:endParaRPr lang="en-US" sz="3000" b="1">
              <a:solidFill>
                <a:srgbClr val="000000"/>
              </a:solidFill>
              <a:latin typeface="Arimo Bold" panose="020B0704020202020204"/>
              <a:ea typeface="Arimo Bold" panose="020B0704020202020204"/>
              <a:cs typeface="Arimo Bold" panose="020B0704020202020204"/>
              <a:sym typeface="Arimo Bold" panose="020B0704020202020204"/>
            </a:endParaRPr>
          </a:p>
        </p:txBody>
      </p:sp>
    </p:spTree>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525588" y="2849611"/>
            <a:ext cx="6205278" cy="6408689"/>
          </a:xfrm>
          <a:prstGeom prst="rect">
            <a:avLst/>
          </a:prstGeom>
        </p:spPr>
        <p:txBody>
          <a:bodyPr lIns="0" tIns="0" rIns="0" bIns="0" rtlCol="0" anchor="t">
            <a:spAutoFit/>
          </a:bodyPr>
          <a:lstStyle/>
          <a:p>
            <a:pPr marL="1115695" lvl="4" indent="-222885" algn="just">
              <a:lnSpc>
                <a:spcPts val="6340"/>
              </a:lnSpc>
              <a:buFont typeface="Arial" panose="020B0604020202020204"/>
              <a:buChar char="•"/>
            </a:pPr>
            <a:r>
              <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rPr>
              <a:t>LM339 IC</a:t>
            </a:r>
            <a:endPar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115695" lvl="4" indent="-222885" algn="just">
              <a:lnSpc>
                <a:spcPts val="6340"/>
              </a:lnSpc>
              <a:buFont typeface="Arial" panose="020B0604020202020204"/>
              <a:buChar char="•"/>
            </a:pPr>
            <a:r>
              <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rPr>
              <a:t>100k-ohm variable</a:t>
            </a:r>
            <a:endPar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115695" lvl="4" indent="-222885" algn="just">
              <a:lnSpc>
                <a:spcPts val="6340"/>
              </a:lnSpc>
              <a:buFont typeface="Arial" panose="020B0604020202020204"/>
              <a:buChar char="•"/>
            </a:pPr>
            <a:r>
              <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rPr>
              <a:t> Ik resistor-8</a:t>
            </a:r>
            <a:endPar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115695" lvl="4" indent="-222885" algn="just">
              <a:lnSpc>
                <a:spcPts val="6340"/>
              </a:lnSpc>
              <a:buFont typeface="Arial" panose="020B0604020202020204"/>
              <a:buChar char="•"/>
            </a:pPr>
            <a:r>
              <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rPr>
              <a:t>LED-4</a:t>
            </a:r>
            <a:endPar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115695" lvl="4" indent="-222885" algn="just">
              <a:lnSpc>
                <a:spcPts val="6340"/>
              </a:lnSpc>
              <a:buFont typeface="Arial" panose="020B0604020202020204"/>
              <a:buChar char="•"/>
            </a:pPr>
            <a:r>
              <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rPr>
              <a:t> 12 watts bablery-1</a:t>
            </a:r>
            <a:endPar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115695" lvl="4" indent="-222885" algn="just">
              <a:lnSpc>
                <a:spcPts val="6340"/>
              </a:lnSpc>
              <a:buFont typeface="Arial" panose="020B0604020202020204"/>
              <a:buChar char="•"/>
            </a:pPr>
            <a:r>
              <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rPr>
              <a:t> Connector-1</a:t>
            </a:r>
            <a:endPar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115695" lvl="4" indent="-222885" algn="just">
              <a:lnSpc>
                <a:spcPts val="6340"/>
              </a:lnSpc>
              <a:buFont typeface="Arial" panose="020B0604020202020204"/>
              <a:buChar char="•"/>
            </a:pPr>
            <a:r>
              <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rPr>
              <a:t> Bread Board -1</a:t>
            </a:r>
            <a:endPar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1115695" lvl="4" indent="-222885" algn="just">
              <a:lnSpc>
                <a:spcPts val="6340"/>
              </a:lnSpc>
              <a:buFont typeface="Arial" panose="020B0604020202020204"/>
              <a:buChar char="•"/>
            </a:pPr>
            <a:r>
              <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rPr>
              <a:t> wire - few</a:t>
            </a:r>
            <a:endParaRPr lang="en-US" sz="352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Freeform 3"/>
          <p:cNvSpPr/>
          <p:nvPr/>
        </p:nvSpPr>
        <p:spPr>
          <a:xfrm>
            <a:off x="309715" y="1930938"/>
            <a:ext cx="17675924" cy="747998"/>
          </a:xfrm>
          <a:custGeom>
            <a:avLst/>
            <a:gdLst/>
            <a:ahLst/>
            <a:cxnLst/>
            <a:rect l="l" t="t" r="r" b="b"/>
            <a:pathLst>
              <a:path w="17675924" h="747998">
                <a:moveTo>
                  <a:pt x="0" y="0"/>
                </a:moveTo>
                <a:lnTo>
                  <a:pt x="17675924" y="0"/>
                </a:lnTo>
                <a:lnTo>
                  <a:pt x="17675924" y="747998"/>
                </a:lnTo>
                <a:lnTo>
                  <a:pt x="0" y="747998"/>
                </a:lnTo>
                <a:lnTo>
                  <a:pt x="0" y="0"/>
                </a:lnTo>
                <a:close/>
              </a:path>
            </a:pathLst>
          </a:custGeom>
          <a:blipFill>
            <a:blip r:embed="rId1">
              <a:extLst>
                <a:ext uri="{96DAC541-7B7A-43D3-8B79-37D633B846F1}">
                  <asvg:svgBlip xmlns:asvg="http://schemas.microsoft.com/office/drawing/2016/SVG/main" r:embed="rId2"/>
                </a:ext>
              </a:extLst>
            </a:blip>
            <a:stretch>
              <a:fillRect t="-292" b="-292"/>
            </a:stretch>
          </a:blipFill>
        </p:spPr>
      </p:sp>
      <p:sp>
        <p:nvSpPr>
          <p:cNvPr id="4" name="Freeform 4"/>
          <p:cNvSpPr/>
          <p:nvPr/>
        </p:nvSpPr>
        <p:spPr>
          <a:xfrm>
            <a:off x="300190" y="1921413"/>
            <a:ext cx="17694974" cy="767048"/>
          </a:xfrm>
          <a:custGeom>
            <a:avLst/>
            <a:gdLst/>
            <a:ahLst/>
            <a:cxnLst/>
            <a:rect l="l" t="t" r="r" b="b"/>
            <a:pathLst>
              <a:path w="17694974" h="767048">
                <a:moveTo>
                  <a:pt x="0" y="0"/>
                </a:moveTo>
                <a:lnTo>
                  <a:pt x="17694974" y="0"/>
                </a:lnTo>
                <a:lnTo>
                  <a:pt x="17694974" y="767048"/>
                </a:lnTo>
                <a:lnTo>
                  <a:pt x="0" y="767048"/>
                </a:lnTo>
                <a:lnTo>
                  <a:pt x="0" y="0"/>
                </a:lnTo>
                <a:close/>
              </a:path>
            </a:pathLst>
          </a:custGeom>
          <a:blipFill>
            <a:blip r:embed="rId3">
              <a:extLst>
                <a:ext uri="{96DAC541-7B7A-43D3-8B79-37D633B846F1}">
                  <asvg:svgBlip xmlns:asvg="http://schemas.microsoft.com/office/drawing/2016/SVG/main" r:embed="rId4"/>
                </a:ext>
              </a:extLst>
            </a:blip>
            <a:stretch>
              <a:fillRect t="-284" b="-284"/>
            </a:stretch>
          </a:blipFill>
        </p:spPr>
      </p:sp>
      <p:sp>
        <p:nvSpPr>
          <p:cNvPr id="5" name="TextBox 5"/>
          <p:cNvSpPr txBox="1"/>
          <p:nvPr/>
        </p:nvSpPr>
        <p:spPr>
          <a:xfrm>
            <a:off x="401771" y="1936011"/>
            <a:ext cx="17593393" cy="1028652"/>
          </a:xfrm>
          <a:prstGeom prst="rect">
            <a:avLst/>
          </a:prstGeom>
        </p:spPr>
        <p:txBody>
          <a:bodyPr lIns="0" tIns="0" rIns="0" bIns="0" rtlCol="0" anchor="t">
            <a:spAutoFit/>
          </a:bodyPr>
          <a:lstStyle/>
          <a:p>
            <a:pPr algn="ctr">
              <a:lnSpc>
                <a:spcPts val="5400"/>
              </a:lnSpc>
            </a:pPr>
            <a:r>
              <a:rPr lang="en-US" sz="3000" b="1">
                <a:solidFill>
                  <a:srgbClr val="000000"/>
                </a:solidFill>
                <a:latin typeface="Arimo Bold" panose="020B0704020202020204"/>
                <a:ea typeface="Arimo Bold" panose="020B0704020202020204"/>
                <a:cs typeface="Arimo Bold" panose="020B0704020202020204"/>
                <a:sym typeface="Arimo Bold" panose="020B0704020202020204"/>
              </a:rPr>
              <a:t>COMPONENTS USED</a:t>
            </a:r>
            <a:endParaRPr lang="en-US" sz="3000" b="1">
              <a:solidFill>
                <a:srgbClr val="000000"/>
              </a:solidFill>
              <a:latin typeface="Arimo Bold" panose="020B0704020202020204"/>
              <a:ea typeface="Arimo Bold" panose="020B0704020202020204"/>
              <a:cs typeface="Arimo Bold" panose="020B0704020202020204"/>
              <a:sym typeface="Arimo Bold" panose="020B0704020202020204"/>
            </a:endParaRPr>
          </a:p>
        </p:txBody>
      </p:sp>
      <p:grpSp>
        <p:nvGrpSpPr>
          <p:cNvPr id="6" name="Group 6"/>
          <p:cNvGrpSpPr/>
          <p:nvPr/>
        </p:nvGrpSpPr>
        <p:grpSpPr>
          <a:xfrm rot="0">
            <a:off x="353975" y="265476"/>
            <a:ext cx="4225385" cy="1437989"/>
            <a:chOff x="0" y="0"/>
            <a:chExt cx="5633847" cy="1917319"/>
          </a:xfrm>
        </p:grpSpPr>
        <p:sp>
          <p:nvSpPr>
            <p:cNvPr id="7" name="Freeform 7"/>
            <p:cNvSpPr/>
            <p:nvPr/>
          </p:nvSpPr>
          <p:spPr>
            <a:xfrm>
              <a:off x="0" y="0"/>
              <a:ext cx="5633847" cy="1917319"/>
            </a:xfrm>
            <a:custGeom>
              <a:avLst/>
              <a:gdLst/>
              <a:ahLst/>
              <a:cxnLst/>
              <a:rect l="l" t="t" r="r" b="b"/>
              <a:pathLst>
                <a:path w="5633847" h="1917319">
                  <a:moveTo>
                    <a:pt x="0" y="0"/>
                  </a:moveTo>
                  <a:lnTo>
                    <a:pt x="5633847" y="0"/>
                  </a:lnTo>
                  <a:lnTo>
                    <a:pt x="5633847" y="1917319"/>
                  </a:lnTo>
                  <a:lnTo>
                    <a:pt x="0" y="1917319"/>
                  </a:lnTo>
                  <a:lnTo>
                    <a:pt x="0" y="0"/>
                  </a:lnTo>
                  <a:close/>
                </a:path>
              </a:pathLst>
            </a:custGeom>
            <a:blipFill>
              <a:blip r:embed="rId5"/>
              <a:stretch>
                <a:fillRect t="-27112" b="-27112"/>
              </a:stretch>
            </a:blipFill>
          </p:spPr>
        </p:sp>
      </p:grpSp>
      <p:grpSp>
        <p:nvGrpSpPr>
          <p:cNvPr id="8" name="Group 8"/>
          <p:cNvGrpSpPr/>
          <p:nvPr/>
        </p:nvGrpSpPr>
        <p:grpSpPr>
          <a:xfrm rot="0">
            <a:off x="16923776" y="287592"/>
            <a:ext cx="1020508" cy="953833"/>
            <a:chOff x="0" y="0"/>
            <a:chExt cx="1360677" cy="1271777"/>
          </a:xfrm>
        </p:grpSpPr>
        <p:sp>
          <p:nvSpPr>
            <p:cNvPr id="9" name="Freeform 9"/>
            <p:cNvSpPr/>
            <p:nvPr/>
          </p:nvSpPr>
          <p:spPr>
            <a:xfrm>
              <a:off x="0" y="0"/>
              <a:ext cx="1360678" cy="1271778"/>
            </a:xfrm>
            <a:custGeom>
              <a:avLst/>
              <a:gdLst/>
              <a:ahLst/>
              <a:cxnLst/>
              <a:rect l="l" t="t" r="r" b="b"/>
              <a:pathLst>
                <a:path w="1360678" h="1271778">
                  <a:moveTo>
                    <a:pt x="0" y="0"/>
                  </a:moveTo>
                  <a:lnTo>
                    <a:pt x="1360678" y="0"/>
                  </a:lnTo>
                  <a:lnTo>
                    <a:pt x="1360678" y="1271778"/>
                  </a:lnTo>
                  <a:lnTo>
                    <a:pt x="0" y="1271778"/>
                  </a:lnTo>
                  <a:lnTo>
                    <a:pt x="0" y="0"/>
                  </a:lnTo>
                  <a:close/>
                </a:path>
              </a:pathLst>
            </a:custGeom>
            <a:blipFill>
              <a:blip r:embed="rId6"/>
              <a:stretch>
                <a:fillRect l="-60242" r="-60242"/>
              </a:stretch>
            </a:blipFill>
          </p:spPr>
        </p:sp>
      </p:grpSp>
      <p:grpSp>
        <p:nvGrpSpPr>
          <p:cNvPr id="10" name="Group 10"/>
          <p:cNvGrpSpPr/>
          <p:nvPr/>
        </p:nvGrpSpPr>
        <p:grpSpPr>
          <a:xfrm rot="0">
            <a:off x="8893278" y="403731"/>
            <a:ext cx="1469898" cy="1105186"/>
            <a:chOff x="0" y="0"/>
            <a:chExt cx="1959864" cy="1473581"/>
          </a:xfrm>
        </p:grpSpPr>
        <p:sp>
          <p:nvSpPr>
            <p:cNvPr id="11" name="Freeform 11"/>
            <p:cNvSpPr/>
            <p:nvPr/>
          </p:nvSpPr>
          <p:spPr>
            <a:xfrm>
              <a:off x="0" y="0"/>
              <a:ext cx="1959864" cy="1473581"/>
            </a:xfrm>
            <a:custGeom>
              <a:avLst/>
              <a:gdLst/>
              <a:ahLst/>
              <a:cxnLst/>
              <a:rect l="l" t="t" r="r" b="b"/>
              <a:pathLst>
                <a:path w="1959864" h="1473581">
                  <a:moveTo>
                    <a:pt x="0" y="0"/>
                  </a:moveTo>
                  <a:lnTo>
                    <a:pt x="1959864" y="0"/>
                  </a:lnTo>
                  <a:lnTo>
                    <a:pt x="1959864" y="1473581"/>
                  </a:lnTo>
                  <a:lnTo>
                    <a:pt x="0" y="1473581"/>
                  </a:lnTo>
                  <a:lnTo>
                    <a:pt x="0" y="0"/>
                  </a:lnTo>
                  <a:close/>
                </a:path>
              </a:pathLst>
            </a:custGeom>
            <a:blipFill>
              <a:blip r:embed="rId7"/>
              <a:stretch>
                <a:fillRect l="-37" r="-37"/>
              </a:stretch>
            </a:blipFill>
          </p:spPr>
        </p:sp>
      </p:gr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9715" y="1930938"/>
            <a:ext cx="17675924" cy="747998"/>
          </a:xfrm>
          <a:custGeom>
            <a:avLst/>
            <a:gdLst/>
            <a:ahLst/>
            <a:cxnLst/>
            <a:rect l="l" t="t" r="r" b="b"/>
            <a:pathLst>
              <a:path w="17675924" h="747998">
                <a:moveTo>
                  <a:pt x="0" y="0"/>
                </a:moveTo>
                <a:lnTo>
                  <a:pt x="17675924" y="0"/>
                </a:lnTo>
                <a:lnTo>
                  <a:pt x="17675924" y="747998"/>
                </a:lnTo>
                <a:lnTo>
                  <a:pt x="0" y="747998"/>
                </a:lnTo>
                <a:lnTo>
                  <a:pt x="0" y="0"/>
                </a:lnTo>
                <a:close/>
              </a:path>
            </a:pathLst>
          </a:custGeom>
          <a:blipFill>
            <a:blip r:embed="rId1">
              <a:extLst>
                <a:ext uri="{96DAC541-7B7A-43D3-8B79-37D633B846F1}">
                  <asvg:svgBlip xmlns:asvg="http://schemas.microsoft.com/office/drawing/2016/SVG/main" r:embed="rId2"/>
                </a:ext>
              </a:extLst>
            </a:blip>
            <a:stretch>
              <a:fillRect t="-292" b="-292"/>
            </a:stretch>
          </a:blipFill>
        </p:spPr>
      </p:sp>
      <p:sp>
        <p:nvSpPr>
          <p:cNvPr id="3" name="Freeform 3"/>
          <p:cNvSpPr/>
          <p:nvPr/>
        </p:nvSpPr>
        <p:spPr>
          <a:xfrm>
            <a:off x="300190" y="1921413"/>
            <a:ext cx="17694974" cy="767048"/>
          </a:xfrm>
          <a:custGeom>
            <a:avLst/>
            <a:gdLst/>
            <a:ahLst/>
            <a:cxnLst/>
            <a:rect l="l" t="t" r="r" b="b"/>
            <a:pathLst>
              <a:path w="17694974" h="767048">
                <a:moveTo>
                  <a:pt x="0" y="0"/>
                </a:moveTo>
                <a:lnTo>
                  <a:pt x="17694974" y="0"/>
                </a:lnTo>
                <a:lnTo>
                  <a:pt x="17694974" y="767048"/>
                </a:lnTo>
                <a:lnTo>
                  <a:pt x="0" y="767048"/>
                </a:lnTo>
                <a:lnTo>
                  <a:pt x="0" y="0"/>
                </a:lnTo>
                <a:close/>
              </a:path>
            </a:pathLst>
          </a:custGeom>
          <a:blipFill>
            <a:blip r:embed="rId3">
              <a:extLst>
                <a:ext uri="{96DAC541-7B7A-43D3-8B79-37D633B846F1}">
                  <asvg:svgBlip xmlns:asvg="http://schemas.microsoft.com/office/drawing/2016/SVG/main" r:embed="rId4"/>
                </a:ext>
              </a:extLst>
            </a:blip>
            <a:stretch>
              <a:fillRect t="-284" b="-284"/>
            </a:stretch>
          </a:blipFill>
        </p:spPr>
      </p:sp>
      <p:sp>
        <p:nvSpPr>
          <p:cNvPr id="4" name="TextBox 4"/>
          <p:cNvSpPr txBox="1"/>
          <p:nvPr/>
        </p:nvSpPr>
        <p:spPr>
          <a:xfrm>
            <a:off x="1028700" y="1918873"/>
            <a:ext cx="17593393" cy="1028652"/>
          </a:xfrm>
          <a:prstGeom prst="rect">
            <a:avLst/>
          </a:prstGeom>
        </p:spPr>
        <p:txBody>
          <a:bodyPr lIns="0" tIns="0" rIns="0" bIns="0" rtlCol="0" anchor="t">
            <a:spAutoFit/>
          </a:bodyPr>
          <a:lstStyle/>
          <a:p>
            <a:pPr algn="ctr">
              <a:lnSpc>
                <a:spcPts val="5400"/>
              </a:lnSpc>
            </a:pPr>
            <a:r>
              <a:rPr lang="en-US" sz="3000" b="1">
                <a:solidFill>
                  <a:srgbClr val="000000"/>
                </a:solidFill>
                <a:latin typeface="Arimo Bold" panose="020B0704020202020204"/>
                <a:ea typeface="Arimo Bold" panose="020B0704020202020204"/>
                <a:cs typeface="Arimo Bold" panose="020B0704020202020204"/>
                <a:sym typeface="Arimo Bold" panose="020B0704020202020204"/>
              </a:rPr>
              <a:t>COMPONENTS DESCRIPTION</a:t>
            </a:r>
            <a:endParaRPr lang="en-US" sz="3000" b="1">
              <a:solidFill>
                <a:srgbClr val="000000"/>
              </a:solidFill>
              <a:latin typeface="Arimo Bold" panose="020B0704020202020204"/>
              <a:ea typeface="Arimo Bold" panose="020B0704020202020204"/>
              <a:cs typeface="Arimo Bold" panose="020B0704020202020204"/>
              <a:sym typeface="Arimo Bold" panose="020B0704020202020204"/>
            </a:endParaRPr>
          </a:p>
        </p:txBody>
      </p:sp>
      <p:grpSp>
        <p:nvGrpSpPr>
          <p:cNvPr id="5" name="Group 5"/>
          <p:cNvGrpSpPr/>
          <p:nvPr/>
        </p:nvGrpSpPr>
        <p:grpSpPr>
          <a:xfrm rot="0">
            <a:off x="353975" y="265476"/>
            <a:ext cx="4225385" cy="1437989"/>
            <a:chOff x="0" y="0"/>
            <a:chExt cx="5633847" cy="1917319"/>
          </a:xfrm>
        </p:grpSpPr>
        <p:sp>
          <p:nvSpPr>
            <p:cNvPr id="6" name="Freeform 6"/>
            <p:cNvSpPr/>
            <p:nvPr/>
          </p:nvSpPr>
          <p:spPr>
            <a:xfrm>
              <a:off x="0" y="0"/>
              <a:ext cx="5633847" cy="1917319"/>
            </a:xfrm>
            <a:custGeom>
              <a:avLst/>
              <a:gdLst/>
              <a:ahLst/>
              <a:cxnLst/>
              <a:rect l="l" t="t" r="r" b="b"/>
              <a:pathLst>
                <a:path w="5633847" h="1917319">
                  <a:moveTo>
                    <a:pt x="0" y="0"/>
                  </a:moveTo>
                  <a:lnTo>
                    <a:pt x="5633847" y="0"/>
                  </a:lnTo>
                  <a:lnTo>
                    <a:pt x="5633847" y="1917319"/>
                  </a:lnTo>
                  <a:lnTo>
                    <a:pt x="0" y="1917319"/>
                  </a:lnTo>
                  <a:lnTo>
                    <a:pt x="0" y="0"/>
                  </a:lnTo>
                  <a:close/>
                </a:path>
              </a:pathLst>
            </a:custGeom>
            <a:blipFill>
              <a:blip r:embed="rId5"/>
              <a:stretch>
                <a:fillRect t="-27112" b="-27112"/>
              </a:stretch>
            </a:blipFill>
          </p:spPr>
        </p:sp>
      </p:grpSp>
      <p:grpSp>
        <p:nvGrpSpPr>
          <p:cNvPr id="7" name="Group 7"/>
          <p:cNvGrpSpPr/>
          <p:nvPr/>
        </p:nvGrpSpPr>
        <p:grpSpPr>
          <a:xfrm rot="0">
            <a:off x="16923776" y="287592"/>
            <a:ext cx="1020508" cy="953833"/>
            <a:chOff x="0" y="0"/>
            <a:chExt cx="1360677" cy="1271777"/>
          </a:xfrm>
        </p:grpSpPr>
        <p:sp>
          <p:nvSpPr>
            <p:cNvPr id="8" name="Freeform 8"/>
            <p:cNvSpPr/>
            <p:nvPr/>
          </p:nvSpPr>
          <p:spPr>
            <a:xfrm>
              <a:off x="0" y="0"/>
              <a:ext cx="1360678" cy="1271778"/>
            </a:xfrm>
            <a:custGeom>
              <a:avLst/>
              <a:gdLst/>
              <a:ahLst/>
              <a:cxnLst/>
              <a:rect l="l" t="t" r="r" b="b"/>
              <a:pathLst>
                <a:path w="1360678" h="1271778">
                  <a:moveTo>
                    <a:pt x="0" y="0"/>
                  </a:moveTo>
                  <a:lnTo>
                    <a:pt x="1360678" y="0"/>
                  </a:lnTo>
                  <a:lnTo>
                    <a:pt x="1360678" y="1271778"/>
                  </a:lnTo>
                  <a:lnTo>
                    <a:pt x="0" y="1271778"/>
                  </a:lnTo>
                  <a:lnTo>
                    <a:pt x="0" y="0"/>
                  </a:lnTo>
                  <a:close/>
                </a:path>
              </a:pathLst>
            </a:custGeom>
            <a:blipFill>
              <a:blip r:embed="rId6"/>
              <a:stretch>
                <a:fillRect l="-60242" r="-60242"/>
              </a:stretch>
            </a:blipFill>
          </p:spPr>
        </p:sp>
      </p:grpSp>
      <p:grpSp>
        <p:nvGrpSpPr>
          <p:cNvPr id="9" name="Group 9"/>
          <p:cNvGrpSpPr/>
          <p:nvPr/>
        </p:nvGrpSpPr>
        <p:grpSpPr>
          <a:xfrm rot="0">
            <a:off x="8893278" y="403731"/>
            <a:ext cx="1469898" cy="1105186"/>
            <a:chOff x="0" y="0"/>
            <a:chExt cx="1959864" cy="1473581"/>
          </a:xfrm>
        </p:grpSpPr>
        <p:sp>
          <p:nvSpPr>
            <p:cNvPr id="10" name="Freeform 10"/>
            <p:cNvSpPr/>
            <p:nvPr/>
          </p:nvSpPr>
          <p:spPr>
            <a:xfrm>
              <a:off x="0" y="0"/>
              <a:ext cx="1959864" cy="1473581"/>
            </a:xfrm>
            <a:custGeom>
              <a:avLst/>
              <a:gdLst/>
              <a:ahLst/>
              <a:cxnLst/>
              <a:rect l="l" t="t" r="r" b="b"/>
              <a:pathLst>
                <a:path w="1959864" h="1473581">
                  <a:moveTo>
                    <a:pt x="0" y="0"/>
                  </a:moveTo>
                  <a:lnTo>
                    <a:pt x="1959864" y="0"/>
                  </a:lnTo>
                  <a:lnTo>
                    <a:pt x="1959864" y="1473581"/>
                  </a:lnTo>
                  <a:lnTo>
                    <a:pt x="0" y="1473581"/>
                  </a:lnTo>
                  <a:lnTo>
                    <a:pt x="0" y="0"/>
                  </a:lnTo>
                  <a:close/>
                </a:path>
              </a:pathLst>
            </a:custGeom>
            <a:blipFill>
              <a:blip r:embed="rId7"/>
              <a:stretch>
                <a:fillRect l="-37" r="-37"/>
              </a:stretch>
            </a:blipFill>
          </p:spPr>
        </p:sp>
      </p:grpSp>
      <p:sp>
        <p:nvSpPr>
          <p:cNvPr id="11" name="TextBox 11"/>
          <p:cNvSpPr txBox="1"/>
          <p:nvPr/>
        </p:nvSpPr>
        <p:spPr>
          <a:xfrm>
            <a:off x="0" y="2697987"/>
            <a:ext cx="15895076" cy="2247229"/>
          </a:xfrm>
          <a:prstGeom prst="rect">
            <a:avLst/>
          </a:prstGeom>
        </p:spPr>
        <p:txBody>
          <a:bodyPr lIns="0" tIns="0" rIns="0" bIns="0" rtlCol="0" anchor="t">
            <a:spAutoFit/>
          </a:bodyPr>
          <a:lstStyle/>
          <a:p>
            <a:pPr marL="1106170" lvl="4" indent="-220980" algn="just">
              <a:lnSpc>
                <a:spcPts val="4760"/>
              </a:lnSpc>
              <a:buFont typeface="Arial" panose="020B0604020202020204"/>
              <a:buChar char="•"/>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LM339 (Quad Comparator IC): The LM339 is a low-power, quad comparator IC that features four independent voltage comparators designed to operate from a single power supply over a wide range of voltages.</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 name="TextBox 12"/>
          <p:cNvSpPr txBox="1"/>
          <p:nvPr/>
        </p:nvSpPr>
        <p:spPr>
          <a:xfrm>
            <a:off x="0" y="5269066"/>
            <a:ext cx="15895076" cy="1647166"/>
          </a:xfrm>
          <a:prstGeom prst="rect">
            <a:avLst/>
          </a:prstGeom>
        </p:spPr>
        <p:txBody>
          <a:bodyPr lIns="0" tIns="0" rIns="0" bIns="0" rtlCol="0" anchor="t">
            <a:spAutoFit/>
          </a:bodyPr>
          <a:lstStyle/>
          <a:p>
            <a:pPr marL="1106170" lvl="4" indent="-220980" algn="just">
              <a:lnSpc>
                <a:spcPts val="4760"/>
              </a:lnSpc>
              <a:buFont typeface="Arial" panose="020B0604020202020204"/>
              <a:buChar char="•"/>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100kΩ Variable Resistor: This variable resistor (potentiometer) is used to adjust the reference voltage levels that the LM339 compares the battery voltage against.</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TextBox 13"/>
          <p:cNvSpPr txBox="1"/>
          <p:nvPr/>
        </p:nvSpPr>
        <p:spPr>
          <a:xfrm>
            <a:off x="0" y="7421057"/>
            <a:ext cx="15895076" cy="1647166"/>
          </a:xfrm>
          <a:prstGeom prst="rect">
            <a:avLst/>
          </a:prstGeom>
        </p:spPr>
        <p:txBody>
          <a:bodyPr lIns="0" tIns="0" rIns="0" bIns="0" rtlCol="0" anchor="t">
            <a:spAutoFit/>
          </a:bodyPr>
          <a:lstStyle/>
          <a:p>
            <a:pPr marL="1106170" lvl="4" indent="-220980" algn="just">
              <a:lnSpc>
                <a:spcPts val="4760"/>
              </a:lnSpc>
              <a:buFont typeface="Arial" panose="020B0604020202020204"/>
              <a:buChar char="•"/>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1kΩ Resistors (x8): Each resistor is connected in series with an LED to limit the current flowing through it.</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9715" y="1930938"/>
            <a:ext cx="17675924" cy="747998"/>
          </a:xfrm>
          <a:custGeom>
            <a:avLst/>
            <a:gdLst/>
            <a:ahLst/>
            <a:cxnLst/>
            <a:rect l="l" t="t" r="r" b="b"/>
            <a:pathLst>
              <a:path w="17675924" h="747998">
                <a:moveTo>
                  <a:pt x="0" y="0"/>
                </a:moveTo>
                <a:lnTo>
                  <a:pt x="17675924" y="0"/>
                </a:lnTo>
                <a:lnTo>
                  <a:pt x="17675924" y="747998"/>
                </a:lnTo>
                <a:lnTo>
                  <a:pt x="0" y="747998"/>
                </a:lnTo>
                <a:lnTo>
                  <a:pt x="0" y="0"/>
                </a:lnTo>
                <a:close/>
              </a:path>
            </a:pathLst>
          </a:custGeom>
          <a:blipFill>
            <a:blip r:embed="rId1">
              <a:extLst>
                <a:ext uri="{96DAC541-7B7A-43D3-8B79-37D633B846F1}">
                  <asvg:svgBlip xmlns:asvg="http://schemas.microsoft.com/office/drawing/2016/SVG/main" r:embed="rId2"/>
                </a:ext>
              </a:extLst>
            </a:blip>
            <a:stretch>
              <a:fillRect t="-292" b="-292"/>
            </a:stretch>
          </a:blipFill>
        </p:spPr>
      </p:sp>
      <p:sp>
        <p:nvSpPr>
          <p:cNvPr id="3" name="Freeform 3"/>
          <p:cNvSpPr/>
          <p:nvPr/>
        </p:nvSpPr>
        <p:spPr>
          <a:xfrm>
            <a:off x="300190" y="1921413"/>
            <a:ext cx="17694974" cy="767048"/>
          </a:xfrm>
          <a:custGeom>
            <a:avLst/>
            <a:gdLst/>
            <a:ahLst/>
            <a:cxnLst/>
            <a:rect l="l" t="t" r="r" b="b"/>
            <a:pathLst>
              <a:path w="17694974" h="767048">
                <a:moveTo>
                  <a:pt x="0" y="0"/>
                </a:moveTo>
                <a:lnTo>
                  <a:pt x="17694974" y="0"/>
                </a:lnTo>
                <a:lnTo>
                  <a:pt x="17694974" y="767048"/>
                </a:lnTo>
                <a:lnTo>
                  <a:pt x="0" y="767048"/>
                </a:lnTo>
                <a:lnTo>
                  <a:pt x="0" y="0"/>
                </a:lnTo>
                <a:close/>
              </a:path>
            </a:pathLst>
          </a:custGeom>
          <a:blipFill>
            <a:blip r:embed="rId3">
              <a:extLst>
                <a:ext uri="{96DAC541-7B7A-43D3-8B79-37D633B846F1}">
                  <asvg:svgBlip xmlns:asvg="http://schemas.microsoft.com/office/drawing/2016/SVG/main" r:embed="rId4"/>
                </a:ext>
              </a:extLst>
            </a:blip>
            <a:stretch>
              <a:fillRect t="-284" b="-284"/>
            </a:stretch>
          </a:blipFill>
        </p:spPr>
      </p:sp>
      <p:sp>
        <p:nvSpPr>
          <p:cNvPr id="4" name="TextBox 4"/>
          <p:cNvSpPr txBox="1"/>
          <p:nvPr/>
        </p:nvSpPr>
        <p:spPr>
          <a:xfrm>
            <a:off x="831531" y="1983660"/>
            <a:ext cx="17593393" cy="1028652"/>
          </a:xfrm>
          <a:prstGeom prst="rect">
            <a:avLst/>
          </a:prstGeom>
        </p:spPr>
        <p:txBody>
          <a:bodyPr lIns="0" tIns="0" rIns="0" bIns="0" rtlCol="0" anchor="t">
            <a:spAutoFit/>
          </a:bodyPr>
          <a:lstStyle/>
          <a:p>
            <a:pPr algn="ctr">
              <a:lnSpc>
                <a:spcPts val="5400"/>
              </a:lnSpc>
            </a:pPr>
            <a:r>
              <a:rPr lang="en-US" sz="3000" b="1">
                <a:solidFill>
                  <a:srgbClr val="000000"/>
                </a:solidFill>
                <a:latin typeface="Arimo Bold" panose="020B0704020202020204"/>
                <a:ea typeface="Arimo Bold" panose="020B0704020202020204"/>
                <a:cs typeface="Arimo Bold" panose="020B0704020202020204"/>
                <a:sym typeface="Arimo Bold" panose="020B0704020202020204"/>
              </a:rPr>
              <a:t>COMPONENTS DESCRIPTION</a:t>
            </a:r>
            <a:endParaRPr lang="en-US" sz="3000" b="1">
              <a:solidFill>
                <a:srgbClr val="000000"/>
              </a:solidFill>
              <a:latin typeface="Arimo Bold" panose="020B0704020202020204"/>
              <a:ea typeface="Arimo Bold" panose="020B0704020202020204"/>
              <a:cs typeface="Arimo Bold" panose="020B0704020202020204"/>
              <a:sym typeface="Arimo Bold" panose="020B0704020202020204"/>
            </a:endParaRPr>
          </a:p>
        </p:txBody>
      </p:sp>
      <p:grpSp>
        <p:nvGrpSpPr>
          <p:cNvPr id="5" name="Group 5"/>
          <p:cNvGrpSpPr/>
          <p:nvPr/>
        </p:nvGrpSpPr>
        <p:grpSpPr>
          <a:xfrm rot="0">
            <a:off x="353975" y="265476"/>
            <a:ext cx="4225385" cy="1437989"/>
            <a:chOff x="0" y="0"/>
            <a:chExt cx="5633847" cy="1917319"/>
          </a:xfrm>
        </p:grpSpPr>
        <p:sp>
          <p:nvSpPr>
            <p:cNvPr id="6" name="Freeform 6"/>
            <p:cNvSpPr/>
            <p:nvPr/>
          </p:nvSpPr>
          <p:spPr>
            <a:xfrm>
              <a:off x="0" y="0"/>
              <a:ext cx="5633847" cy="1917319"/>
            </a:xfrm>
            <a:custGeom>
              <a:avLst/>
              <a:gdLst/>
              <a:ahLst/>
              <a:cxnLst/>
              <a:rect l="l" t="t" r="r" b="b"/>
              <a:pathLst>
                <a:path w="5633847" h="1917319">
                  <a:moveTo>
                    <a:pt x="0" y="0"/>
                  </a:moveTo>
                  <a:lnTo>
                    <a:pt x="5633847" y="0"/>
                  </a:lnTo>
                  <a:lnTo>
                    <a:pt x="5633847" y="1917319"/>
                  </a:lnTo>
                  <a:lnTo>
                    <a:pt x="0" y="1917319"/>
                  </a:lnTo>
                  <a:lnTo>
                    <a:pt x="0" y="0"/>
                  </a:lnTo>
                  <a:close/>
                </a:path>
              </a:pathLst>
            </a:custGeom>
            <a:blipFill>
              <a:blip r:embed="rId5"/>
              <a:stretch>
                <a:fillRect t="-27112" b="-27112"/>
              </a:stretch>
            </a:blipFill>
          </p:spPr>
        </p:sp>
      </p:grpSp>
      <p:grpSp>
        <p:nvGrpSpPr>
          <p:cNvPr id="7" name="Group 7"/>
          <p:cNvGrpSpPr/>
          <p:nvPr/>
        </p:nvGrpSpPr>
        <p:grpSpPr>
          <a:xfrm rot="0">
            <a:off x="16923776" y="287592"/>
            <a:ext cx="1020508" cy="953833"/>
            <a:chOff x="0" y="0"/>
            <a:chExt cx="1360677" cy="1271777"/>
          </a:xfrm>
        </p:grpSpPr>
        <p:sp>
          <p:nvSpPr>
            <p:cNvPr id="8" name="Freeform 8"/>
            <p:cNvSpPr/>
            <p:nvPr/>
          </p:nvSpPr>
          <p:spPr>
            <a:xfrm>
              <a:off x="0" y="0"/>
              <a:ext cx="1360678" cy="1271778"/>
            </a:xfrm>
            <a:custGeom>
              <a:avLst/>
              <a:gdLst/>
              <a:ahLst/>
              <a:cxnLst/>
              <a:rect l="l" t="t" r="r" b="b"/>
              <a:pathLst>
                <a:path w="1360678" h="1271778">
                  <a:moveTo>
                    <a:pt x="0" y="0"/>
                  </a:moveTo>
                  <a:lnTo>
                    <a:pt x="1360678" y="0"/>
                  </a:lnTo>
                  <a:lnTo>
                    <a:pt x="1360678" y="1271778"/>
                  </a:lnTo>
                  <a:lnTo>
                    <a:pt x="0" y="1271778"/>
                  </a:lnTo>
                  <a:lnTo>
                    <a:pt x="0" y="0"/>
                  </a:lnTo>
                  <a:close/>
                </a:path>
              </a:pathLst>
            </a:custGeom>
            <a:blipFill>
              <a:blip r:embed="rId6"/>
              <a:stretch>
                <a:fillRect l="-60242" r="-60242"/>
              </a:stretch>
            </a:blipFill>
          </p:spPr>
        </p:sp>
      </p:grpSp>
      <p:grpSp>
        <p:nvGrpSpPr>
          <p:cNvPr id="9" name="Group 9"/>
          <p:cNvGrpSpPr/>
          <p:nvPr/>
        </p:nvGrpSpPr>
        <p:grpSpPr>
          <a:xfrm rot="0">
            <a:off x="8893278" y="403731"/>
            <a:ext cx="1469898" cy="1105186"/>
            <a:chOff x="0" y="0"/>
            <a:chExt cx="1959864" cy="1473581"/>
          </a:xfrm>
        </p:grpSpPr>
        <p:sp>
          <p:nvSpPr>
            <p:cNvPr id="10" name="Freeform 10"/>
            <p:cNvSpPr/>
            <p:nvPr/>
          </p:nvSpPr>
          <p:spPr>
            <a:xfrm>
              <a:off x="0" y="0"/>
              <a:ext cx="1959864" cy="1473581"/>
            </a:xfrm>
            <a:custGeom>
              <a:avLst/>
              <a:gdLst/>
              <a:ahLst/>
              <a:cxnLst/>
              <a:rect l="l" t="t" r="r" b="b"/>
              <a:pathLst>
                <a:path w="1959864" h="1473581">
                  <a:moveTo>
                    <a:pt x="0" y="0"/>
                  </a:moveTo>
                  <a:lnTo>
                    <a:pt x="1959864" y="0"/>
                  </a:lnTo>
                  <a:lnTo>
                    <a:pt x="1959864" y="1473581"/>
                  </a:lnTo>
                  <a:lnTo>
                    <a:pt x="0" y="1473581"/>
                  </a:lnTo>
                  <a:lnTo>
                    <a:pt x="0" y="0"/>
                  </a:lnTo>
                  <a:close/>
                </a:path>
              </a:pathLst>
            </a:custGeom>
            <a:blipFill>
              <a:blip r:embed="rId7"/>
              <a:stretch>
                <a:fillRect l="-37" r="-37"/>
              </a:stretch>
            </a:blipFill>
          </p:spPr>
        </p:sp>
      </p:grpSp>
      <p:sp>
        <p:nvSpPr>
          <p:cNvPr id="11" name="TextBox 11"/>
          <p:cNvSpPr txBox="1"/>
          <p:nvPr/>
        </p:nvSpPr>
        <p:spPr>
          <a:xfrm>
            <a:off x="0" y="2888487"/>
            <a:ext cx="16733475" cy="2073445"/>
          </a:xfrm>
          <a:prstGeom prst="rect">
            <a:avLst/>
          </a:prstGeom>
        </p:spPr>
        <p:txBody>
          <a:bodyPr lIns="0" tIns="0" rIns="0" bIns="0" rtlCol="0" anchor="t">
            <a:spAutoFit/>
          </a:bodyPr>
          <a:lstStyle/>
          <a:p>
            <a:pPr marL="1014095" lvl="4" indent="-202565" algn="just">
              <a:lnSpc>
                <a:spcPts val="4365"/>
              </a:lnSpc>
              <a:buFont typeface="Arial" panose="020B0604020202020204"/>
              <a:buChar char="•"/>
            </a:pPr>
            <a:r>
              <a:rPr lang="en-US" sz="3115">
                <a:solidFill>
                  <a:srgbClr val="000000"/>
                </a:solidFill>
                <a:latin typeface="Times New Roman" panose="02020603050405020304"/>
                <a:ea typeface="Times New Roman" panose="02020603050405020304"/>
                <a:cs typeface="Times New Roman" panose="02020603050405020304"/>
                <a:sym typeface="Times New Roman" panose="02020603050405020304"/>
              </a:rPr>
              <a:t>LEDs : The Light Emitting Diodes (LEDs) serve as visual indicators for the battery voltage levels. Each LED corresponds to a different voltage threshold, illuminating when the battery voltage meets or exceeds the preset levels.</a:t>
            </a:r>
            <a:endParaRPr lang="en-US" sz="311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 name="TextBox 12"/>
          <p:cNvSpPr txBox="1"/>
          <p:nvPr/>
        </p:nvSpPr>
        <p:spPr>
          <a:xfrm>
            <a:off x="0" y="5285782"/>
            <a:ext cx="16780941" cy="2247229"/>
          </a:xfrm>
          <a:prstGeom prst="rect">
            <a:avLst/>
          </a:prstGeom>
        </p:spPr>
        <p:txBody>
          <a:bodyPr lIns="0" tIns="0" rIns="0" bIns="0" rtlCol="0" anchor="t">
            <a:spAutoFit/>
          </a:bodyPr>
          <a:lstStyle/>
          <a:p>
            <a:pPr marL="1106170" lvl="4" indent="-220980" algn="just">
              <a:lnSpc>
                <a:spcPts val="4760"/>
              </a:lnSpc>
              <a:buFont typeface="Arial" panose="020B0604020202020204"/>
              <a:buChar char="•"/>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12V Battery: The 12V battery powers the entire circuit and is also the subject of voltage monitoring. The project is designed to work with this common battery voltage, making it suitable for various applications.</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 name="TextBox 13"/>
          <p:cNvSpPr txBox="1"/>
          <p:nvPr/>
        </p:nvSpPr>
        <p:spPr>
          <a:xfrm>
            <a:off x="0" y="7713986"/>
            <a:ext cx="16780941" cy="1647166"/>
          </a:xfrm>
          <a:prstGeom prst="rect">
            <a:avLst/>
          </a:prstGeom>
        </p:spPr>
        <p:txBody>
          <a:bodyPr lIns="0" tIns="0" rIns="0" bIns="0" rtlCol="0" anchor="t">
            <a:spAutoFit/>
          </a:bodyPr>
          <a:lstStyle/>
          <a:p>
            <a:pPr marL="1106170" lvl="4" indent="-220980" algn="just">
              <a:lnSpc>
                <a:spcPts val="4760"/>
              </a:lnSpc>
              <a:buFont typeface="Arial" panose="020B0604020202020204"/>
              <a:buChar char="•"/>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Breadboard: A breadboard is used to build the circuit without the need for soldering, allowing for quick assembly and testing.</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09715" y="1930938"/>
            <a:ext cx="17675924" cy="747998"/>
            <a:chOff x="0" y="0"/>
            <a:chExt cx="23567899" cy="997331"/>
          </a:xfrm>
        </p:grpSpPr>
        <p:sp>
          <p:nvSpPr>
            <p:cNvPr id="3" name="Freeform 3"/>
            <p:cNvSpPr/>
            <p:nvPr/>
          </p:nvSpPr>
          <p:spPr>
            <a:xfrm>
              <a:off x="0" y="0"/>
              <a:ext cx="23567898" cy="997331"/>
            </a:xfrm>
            <a:custGeom>
              <a:avLst/>
              <a:gdLst/>
              <a:ahLst/>
              <a:cxnLst/>
              <a:rect l="l" t="t" r="r" b="b"/>
              <a:pathLst>
                <a:path w="23567898" h="997331">
                  <a:moveTo>
                    <a:pt x="0" y="0"/>
                  </a:moveTo>
                  <a:lnTo>
                    <a:pt x="23567898" y="0"/>
                  </a:lnTo>
                  <a:lnTo>
                    <a:pt x="23567898" y="997331"/>
                  </a:lnTo>
                  <a:lnTo>
                    <a:pt x="0" y="997331"/>
                  </a:lnTo>
                  <a:close/>
                </a:path>
              </a:pathLst>
            </a:custGeom>
            <a:solidFill>
              <a:srgbClr val="BDD7EE"/>
            </a:solidFill>
          </p:spPr>
        </p:sp>
      </p:grpSp>
      <p:grpSp>
        <p:nvGrpSpPr>
          <p:cNvPr id="4" name="Group 4"/>
          <p:cNvGrpSpPr/>
          <p:nvPr/>
        </p:nvGrpSpPr>
        <p:grpSpPr>
          <a:xfrm rot="0">
            <a:off x="300190" y="1921413"/>
            <a:ext cx="17694974" cy="767048"/>
            <a:chOff x="0" y="0"/>
            <a:chExt cx="23593299" cy="1022731"/>
          </a:xfrm>
        </p:grpSpPr>
        <p:sp>
          <p:nvSpPr>
            <p:cNvPr id="5" name="Freeform 5"/>
            <p:cNvSpPr/>
            <p:nvPr/>
          </p:nvSpPr>
          <p:spPr>
            <a:xfrm>
              <a:off x="0" y="0"/>
              <a:ext cx="23593298" cy="1022731"/>
            </a:xfrm>
            <a:custGeom>
              <a:avLst/>
              <a:gdLst/>
              <a:ahLst/>
              <a:cxnLst/>
              <a:rect l="l" t="t" r="r" b="b"/>
              <a:pathLst>
                <a:path w="23593298" h="1022731">
                  <a:moveTo>
                    <a:pt x="12700" y="0"/>
                  </a:moveTo>
                  <a:lnTo>
                    <a:pt x="23580598" y="0"/>
                  </a:lnTo>
                  <a:cubicBezTo>
                    <a:pt x="23587583" y="0"/>
                    <a:pt x="23593298" y="5715"/>
                    <a:pt x="23593298" y="12700"/>
                  </a:cubicBezTo>
                  <a:lnTo>
                    <a:pt x="23593298" y="1010031"/>
                  </a:lnTo>
                  <a:cubicBezTo>
                    <a:pt x="23593298" y="1017016"/>
                    <a:pt x="23587583" y="1022731"/>
                    <a:pt x="23580598" y="1022731"/>
                  </a:cubicBezTo>
                  <a:lnTo>
                    <a:pt x="12700" y="1022731"/>
                  </a:lnTo>
                  <a:cubicBezTo>
                    <a:pt x="5715" y="1022731"/>
                    <a:pt x="0" y="1017016"/>
                    <a:pt x="0" y="1010031"/>
                  </a:cubicBezTo>
                  <a:lnTo>
                    <a:pt x="0" y="12700"/>
                  </a:lnTo>
                  <a:cubicBezTo>
                    <a:pt x="0" y="5715"/>
                    <a:pt x="5715" y="0"/>
                    <a:pt x="12700" y="0"/>
                  </a:cubicBezTo>
                  <a:moveTo>
                    <a:pt x="12700" y="25400"/>
                  </a:moveTo>
                  <a:lnTo>
                    <a:pt x="12700" y="12700"/>
                  </a:lnTo>
                  <a:lnTo>
                    <a:pt x="25400" y="12700"/>
                  </a:lnTo>
                  <a:lnTo>
                    <a:pt x="25400" y="1010031"/>
                  </a:lnTo>
                  <a:lnTo>
                    <a:pt x="12700" y="1010031"/>
                  </a:lnTo>
                  <a:lnTo>
                    <a:pt x="12700" y="997331"/>
                  </a:lnTo>
                  <a:lnTo>
                    <a:pt x="23580598" y="997331"/>
                  </a:lnTo>
                  <a:lnTo>
                    <a:pt x="23580598" y="1010031"/>
                  </a:lnTo>
                  <a:lnTo>
                    <a:pt x="23567898" y="1010031"/>
                  </a:lnTo>
                  <a:lnTo>
                    <a:pt x="23567898" y="12700"/>
                  </a:lnTo>
                  <a:lnTo>
                    <a:pt x="23580598" y="12700"/>
                  </a:lnTo>
                  <a:lnTo>
                    <a:pt x="23580598" y="25400"/>
                  </a:lnTo>
                  <a:lnTo>
                    <a:pt x="12700" y="25400"/>
                  </a:lnTo>
                  <a:close/>
                </a:path>
              </a:pathLst>
            </a:custGeom>
            <a:solidFill>
              <a:srgbClr val="000000"/>
            </a:solidFill>
          </p:spPr>
        </p:sp>
      </p:grpSp>
      <p:sp>
        <p:nvSpPr>
          <p:cNvPr id="6" name="TextBox 6"/>
          <p:cNvSpPr txBox="1"/>
          <p:nvPr/>
        </p:nvSpPr>
        <p:spPr>
          <a:xfrm>
            <a:off x="694607" y="1971167"/>
            <a:ext cx="17593393" cy="1225039"/>
          </a:xfrm>
          <a:prstGeom prst="rect">
            <a:avLst/>
          </a:prstGeom>
        </p:spPr>
        <p:txBody>
          <a:bodyPr lIns="0" tIns="0" rIns="0" bIns="0" rtlCol="0" anchor="t">
            <a:spAutoFit/>
          </a:bodyPr>
          <a:lstStyle/>
          <a:p>
            <a:pPr algn="ctr">
              <a:lnSpc>
                <a:spcPts val="5400"/>
              </a:lnSpc>
            </a:pPr>
            <a:r>
              <a:rPr lang="en-US" sz="3000" b="1">
                <a:solidFill>
                  <a:srgbClr val="000000"/>
                </a:solidFill>
                <a:latin typeface="Arimo Bold" panose="020B0704020202020204"/>
                <a:ea typeface="Arimo Bold" panose="020B0704020202020204"/>
                <a:cs typeface="Arimo Bold" panose="020B0704020202020204"/>
                <a:sym typeface="Arimo Bold" panose="020B0704020202020204"/>
              </a:rPr>
              <a:t>PROGRESS OF WORK</a:t>
            </a:r>
            <a:endParaRPr lang="en-US" sz="3000" b="1">
              <a:solidFill>
                <a:srgbClr val="000000"/>
              </a:solidFill>
              <a:latin typeface="Arimo Bold" panose="020B0704020202020204"/>
              <a:ea typeface="Arimo Bold" panose="020B0704020202020204"/>
              <a:cs typeface="Arimo Bold" panose="020B0704020202020204"/>
              <a:sym typeface="Arimo Bold" panose="020B0704020202020204"/>
            </a:endParaRPr>
          </a:p>
        </p:txBody>
      </p:sp>
      <p:grpSp>
        <p:nvGrpSpPr>
          <p:cNvPr id="7" name="Group 7"/>
          <p:cNvGrpSpPr/>
          <p:nvPr/>
        </p:nvGrpSpPr>
        <p:grpSpPr>
          <a:xfrm rot="0">
            <a:off x="353975" y="265476"/>
            <a:ext cx="4225385" cy="1437989"/>
            <a:chOff x="0" y="0"/>
            <a:chExt cx="5633847" cy="1917319"/>
          </a:xfrm>
        </p:grpSpPr>
        <p:sp>
          <p:nvSpPr>
            <p:cNvPr id="8" name="Freeform 8"/>
            <p:cNvSpPr/>
            <p:nvPr/>
          </p:nvSpPr>
          <p:spPr>
            <a:xfrm>
              <a:off x="0" y="0"/>
              <a:ext cx="5633847" cy="1917319"/>
            </a:xfrm>
            <a:custGeom>
              <a:avLst/>
              <a:gdLst/>
              <a:ahLst/>
              <a:cxnLst/>
              <a:rect l="l" t="t" r="r" b="b"/>
              <a:pathLst>
                <a:path w="5633847" h="1917319">
                  <a:moveTo>
                    <a:pt x="0" y="0"/>
                  </a:moveTo>
                  <a:lnTo>
                    <a:pt x="5633847" y="0"/>
                  </a:lnTo>
                  <a:lnTo>
                    <a:pt x="5633847" y="1917319"/>
                  </a:lnTo>
                  <a:lnTo>
                    <a:pt x="0" y="1917319"/>
                  </a:lnTo>
                  <a:lnTo>
                    <a:pt x="0" y="0"/>
                  </a:lnTo>
                  <a:close/>
                </a:path>
              </a:pathLst>
            </a:custGeom>
            <a:blipFill>
              <a:blip r:embed="rId1"/>
              <a:stretch>
                <a:fillRect t="-27112" b="-27112"/>
              </a:stretch>
            </a:blipFill>
          </p:spPr>
        </p:sp>
      </p:grpSp>
      <p:grpSp>
        <p:nvGrpSpPr>
          <p:cNvPr id="9" name="Group 9"/>
          <p:cNvGrpSpPr/>
          <p:nvPr/>
        </p:nvGrpSpPr>
        <p:grpSpPr>
          <a:xfrm rot="0">
            <a:off x="16923776" y="287592"/>
            <a:ext cx="1020508" cy="953833"/>
            <a:chOff x="0" y="0"/>
            <a:chExt cx="1360678" cy="1271778"/>
          </a:xfrm>
        </p:grpSpPr>
        <p:sp>
          <p:nvSpPr>
            <p:cNvPr id="10" name="Freeform 10"/>
            <p:cNvSpPr/>
            <p:nvPr/>
          </p:nvSpPr>
          <p:spPr>
            <a:xfrm>
              <a:off x="0" y="0"/>
              <a:ext cx="1360678" cy="1271778"/>
            </a:xfrm>
            <a:custGeom>
              <a:avLst/>
              <a:gdLst/>
              <a:ahLst/>
              <a:cxnLst/>
              <a:rect l="l" t="t" r="r" b="b"/>
              <a:pathLst>
                <a:path w="1360678" h="1271778">
                  <a:moveTo>
                    <a:pt x="0" y="0"/>
                  </a:moveTo>
                  <a:lnTo>
                    <a:pt x="1360678" y="0"/>
                  </a:lnTo>
                  <a:lnTo>
                    <a:pt x="1360678" y="1271778"/>
                  </a:lnTo>
                  <a:lnTo>
                    <a:pt x="0" y="1271778"/>
                  </a:lnTo>
                  <a:lnTo>
                    <a:pt x="0" y="0"/>
                  </a:lnTo>
                  <a:close/>
                </a:path>
              </a:pathLst>
            </a:custGeom>
            <a:blipFill>
              <a:blip r:embed="rId2"/>
              <a:stretch>
                <a:fillRect l="-60242" r="-60242"/>
              </a:stretch>
            </a:blipFill>
          </p:spPr>
        </p:sp>
      </p:grpSp>
      <p:grpSp>
        <p:nvGrpSpPr>
          <p:cNvPr id="11" name="Group 11"/>
          <p:cNvGrpSpPr/>
          <p:nvPr/>
        </p:nvGrpSpPr>
        <p:grpSpPr>
          <a:xfrm rot="0">
            <a:off x="8893278" y="403731"/>
            <a:ext cx="1469898" cy="1105186"/>
            <a:chOff x="0" y="0"/>
            <a:chExt cx="1959864" cy="1473581"/>
          </a:xfrm>
        </p:grpSpPr>
        <p:sp>
          <p:nvSpPr>
            <p:cNvPr id="12" name="Freeform 12"/>
            <p:cNvSpPr/>
            <p:nvPr/>
          </p:nvSpPr>
          <p:spPr>
            <a:xfrm>
              <a:off x="0" y="0"/>
              <a:ext cx="1959864" cy="1473581"/>
            </a:xfrm>
            <a:custGeom>
              <a:avLst/>
              <a:gdLst/>
              <a:ahLst/>
              <a:cxnLst/>
              <a:rect l="l" t="t" r="r" b="b"/>
              <a:pathLst>
                <a:path w="1959864" h="1473581">
                  <a:moveTo>
                    <a:pt x="0" y="0"/>
                  </a:moveTo>
                  <a:lnTo>
                    <a:pt x="1959864" y="0"/>
                  </a:lnTo>
                  <a:lnTo>
                    <a:pt x="1959864" y="1473581"/>
                  </a:lnTo>
                  <a:lnTo>
                    <a:pt x="0" y="1473581"/>
                  </a:lnTo>
                  <a:lnTo>
                    <a:pt x="0" y="0"/>
                  </a:lnTo>
                  <a:close/>
                </a:path>
              </a:pathLst>
            </a:custGeom>
            <a:blipFill>
              <a:blip r:embed="rId3"/>
              <a:stretch>
                <a:fillRect l="-37" r="-37"/>
              </a:stretch>
            </a:blipFill>
          </p:spPr>
        </p:sp>
      </p:grpSp>
      <p:sp>
        <p:nvSpPr>
          <p:cNvPr id="13" name="TextBox 13"/>
          <p:cNvSpPr txBox="1"/>
          <p:nvPr/>
        </p:nvSpPr>
        <p:spPr>
          <a:xfrm>
            <a:off x="300191" y="2917057"/>
            <a:ext cx="17175545" cy="6030640"/>
          </a:xfrm>
          <a:prstGeom prst="rect">
            <a:avLst/>
          </a:prstGeom>
        </p:spPr>
        <p:txBody>
          <a:bodyPr lIns="0" tIns="0" rIns="0" bIns="0" rtlCol="0" anchor="t">
            <a:spAutoFit/>
          </a:bodyPr>
          <a:lstStyle/>
          <a:p>
            <a:pPr marL="928370" lvl="3" indent="-231775" algn="l">
              <a:lnSpc>
                <a:spcPts val="5270"/>
              </a:lnSpc>
              <a:buFont typeface="Arial" panose="020B0604020202020204"/>
              <a:buChar char="￭"/>
            </a:pPr>
            <a:r>
              <a:rPr lang="en-US" sz="3400" spc="67">
                <a:solidFill>
                  <a:srgbClr val="000000"/>
                </a:solidFill>
                <a:latin typeface="Times New Roman" panose="02020603050405020304"/>
                <a:ea typeface="Times New Roman" panose="02020603050405020304"/>
                <a:cs typeface="Times New Roman" panose="02020603050405020304"/>
                <a:sym typeface="Times New Roman" panose="02020603050405020304"/>
              </a:rPr>
              <a:t>The progress of the Battery Voltage Monitor project began with researching different voltage monitoring methods and selecting suitable components like the LM339 comparator, resistors, and LEDs. The circuit was then designed on paper, focusing on detecting key voltage levels. After that, the components were assembled on a breadboard, and the connections were made according to the circuit design. The system was tested using a 12V battery, and the voltage thresholds were calibrated using a variable resistor to ensure the LEDs displayed the correct voltage levels. Finally, adjustments were made to improve accuracy, and the results were documented for the project report.</a:t>
            </a:r>
            <a:endParaRPr lang="en-US" sz="3400" spc="67">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00190" y="1921413"/>
            <a:ext cx="17694993" cy="767045"/>
            <a:chOff x="0" y="0"/>
            <a:chExt cx="23593324" cy="1022726"/>
          </a:xfrm>
        </p:grpSpPr>
        <p:sp>
          <p:nvSpPr>
            <p:cNvPr id="3" name="Freeform 3"/>
            <p:cNvSpPr/>
            <p:nvPr/>
          </p:nvSpPr>
          <p:spPr>
            <a:xfrm>
              <a:off x="12700" y="12700"/>
              <a:ext cx="23567898" cy="997331"/>
            </a:xfrm>
            <a:custGeom>
              <a:avLst/>
              <a:gdLst/>
              <a:ahLst/>
              <a:cxnLst/>
              <a:rect l="l" t="t" r="r" b="b"/>
              <a:pathLst>
                <a:path w="23567898" h="997331">
                  <a:moveTo>
                    <a:pt x="0" y="0"/>
                  </a:moveTo>
                  <a:lnTo>
                    <a:pt x="23567898" y="0"/>
                  </a:lnTo>
                  <a:lnTo>
                    <a:pt x="23567898" y="997331"/>
                  </a:lnTo>
                  <a:lnTo>
                    <a:pt x="0" y="997331"/>
                  </a:lnTo>
                  <a:close/>
                </a:path>
              </a:pathLst>
            </a:custGeom>
            <a:solidFill>
              <a:srgbClr val="BDD7EE"/>
            </a:solidFill>
          </p:spPr>
        </p:sp>
        <p:sp>
          <p:nvSpPr>
            <p:cNvPr id="4" name="Freeform 4"/>
            <p:cNvSpPr/>
            <p:nvPr/>
          </p:nvSpPr>
          <p:spPr>
            <a:xfrm>
              <a:off x="0" y="0"/>
              <a:ext cx="23593298" cy="1022731"/>
            </a:xfrm>
            <a:custGeom>
              <a:avLst/>
              <a:gdLst/>
              <a:ahLst/>
              <a:cxnLst/>
              <a:rect l="l" t="t" r="r" b="b"/>
              <a:pathLst>
                <a:path w="23593298" h="1022731">
                  <a:moveTo>
                    <a:pt x="12700" y="0"/>
                  </a:moveTo>
                  <a:lnTo>
                    <a:pt x="23580598" y="0"/>
                  </a:lnTo>
                  <a:cubicBezTo>
                    <a:pt x="23587583" y="0"/>
                    <a:pt x="23593298" y="5715"/>
                    <a:pt x="23593298" y="12700"/>
                  </a:cubicBezTo>
                  <a:lnTo>
                    <a:pt x="23593298" y="1010031"/>
                  </a:lnTo>
                  <a:cubicBezTo>
                    <a:pt x="23593298" y="1017016"/>
                    <a:pt x="23587583" y="1022731"/>
                    <a:pt x="23580598" y="1022731"/>
                  </a:cubicBezTo>
                  <a:lnTo>
                    <a:pt x="12700" y="1022731"/>
                  </a:lnTo>
                  <a:cubicBezTo>
                    <a:pt x="5715" y="1022731"/>
                    <a:pt x="0" y="1017016"/>
                    <a:pt x="0" y="1010031"/>
                  </a:cubicBezTo>
                  <a:lnTo>
                    <a:pt x="0" y="12700"/>
                  </a:lnTo>
                  <a:cubicBezTo>
                    <a:pt x="0" y="5715"/>
                    <a:pt x="5715" y="0"/>
                    <a:pt x="12700" y="0"/>
                  </a:cubicBezTo>
                  <a:moveTo>
                    <a:pt x="12700" y="25400"/>
                  </a:moveTo>
                  <a:lnTo>
                    <a:pt x="12700" y="12700"/>
                  </a:lnTo>
                  <a:lnTo>
                    <a:pt x="25400" y="12700"/>
                  </a:lnTo>
                  <a:lnTo>
                    <a:pt x="25400" y="1010031"/>
                  </a:lnTo>
                  <a:lnTo>
                    <a:pt x="12700" y="1010031"/>
                  </a:lnTo>
                  <a:lnTo>
                    <a:pt x="12700" y="997331"/>
                  </a:lnTo>
                  <a:lnTo>
                    <a:pt x="23580598" y="997331"/>
                  </a:lnTo>
                  <a:lnTo>
                    <a:pt x="23580598" y="1010031"/>
                  </a:lnTo>
                  <a:lnTo>
                    <a:pt x="23567898" y="1010031"/>
                  </a:lnTo>
                  <a:lnTo>
                    <a:pt x="23567898" y="12700"/>
                  </a:lnTo>
                  <a:lnTo>
                    <a:pt x="23580598" y="12700"/>
                  </a:lnTo>
                  <a:lnTo>
                    <a:pt x="23580598" y="25400"/>
                  </a:lnTo>
                  <a:lnTo>
                    <a:pt x="12700" y="25400"/>
                  </a:lnTo>
                  <a:close/>
                </a:path>
              </a:pathLst>
            </a:custGeom>
            <a:solidFill>
              <a:srgbClr val="000000"/>
            </a:solidFill>
          </p:spPr>
        </p:sp>
        <p:sp>
          <p:nvSpPr>
            <p:cNvPr id="5" name="TextBox 5"/>
            <p:cNvSpPr txBox="1"/>
            <p:nvPr/>
          </p:nvSpPr>
          <p:spPr>
            <a:xfrm>
              <a:off x="0" y="-238125"/>
              <a:ext cx="23593324" cy="1260851"/>
            </a:xfrm>
            <a:prstGeom prst="rect">
              <a:avLst/>
            </a:prstGeom>
          </p:spPr>
          <p:txBody>
            <a:bodyPr lIns="50800" tIns="50800" rIns="50800" bIns="50800" rtlCol="0" anchor="t"/>
            <a:lstStyle/>
            <a:p>
              <a:pPr algn="ctr">
                <a:lnSpc>
                  <a:spcPts val="5400"/>
                </a:lnSpc>
              </a:pPr>
              <a:r>
                <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HARDWARE PHOTO</a:t>
              </a:r>
              <a:endPar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grpSp>
      <p:sp>
        <p:nvSpPr>
          <p:cNvPr id="6" name="Freeform 6"/>
          <p:cNvSpPr/>
          <p:nvPr/>
        </p:nvSpPr>
        <p:spPr>
          <a:xfrm>
            <a:off x="353975" y="265476"/>
            <a:ext cx="4225401" cy="1437968"/>
          </a:xfrm>
          <a:custGeom>
            <a:avLst/>
            <a:gdLst/>
            <a:ahLst/>
            <a:cxnLst/>
            <a:rect l="l" t="t" r="r" b="b"/>
            <a:pathLst>
              <a:path w="4225401" h="1437968">
                <a:moveTo>
                  <a:pt x="0" y="0"/>
                </a:moveTo>
                <a:lnTo>
                  <a:pt x="4225401" y="0"/>
                </a:lnTo>
                <a:lnTo>
                  <a:pt x="4225401" y="1437968"/>
                </a:lnTo>
                <a:lnTo>
                  <a:pt x="0" y="1437968"/>
                </a:lnTo>
                <a:lnTo>
                  <a:pt x="0" y="0"/>
                </a:lnTo>
                <a:close/>
              </a:path>
            </a:pathLst>
          </a:custGeom>
          <a:blipFill>
            <a:blip r:embed="rId1"/>
            <a:stretch>
              <a:fillRect t="-32285" b="-22005"/>
            </a:stretch>
          </a:blipFill>
        </p:spPr>
      </p:sp>
      <p:sp>
        <p:nvSpPr>
          <p:cNvPr id="7" name="Freeform 7"/>
          <p:cNvSpPr/>
          <p:nvPr/>
        </p:nvSpPr>
        <p:spPr>
          <a:xfrm>
            <a:off x="16923776" y="287592"/>
            <a:ext cx="1020498" cy="953843"/>
          </a:xfrm>
          <a:custGeom>
            <a:avLst/>
            <a:gdLst/>
            <a:ahLst/>
            <a:cxnLst/>
            <a:rect l="l" t="t" r="r" b="b"/>
            <a:pathLst>
              <a:path w="1020498" h="953843">
                <a:moveTo>
                  <a:pt x="0" y="0"/>
                </a:moveTo>
                <a:lnTo>
                  <a:pt x="1020498" y="0"/>
                </a:lnTo>
                <a:lnTo>
                  <a:pt x="1020498" y="953843"/>
                </a:lnTo>
                <a:lnTo>
                  <a:pt x="0" y="953843"/>
                </a:lnTo>
                <a:lnTo>
                  <a:pt x="0" y="0"/>
                </a:lnTo>
                <a:close/>
              </a:path>
            </a:pathLst>
          </a:custGeom>
          <a:blipFill>
            <a:blip r:embed="rId2"/>
            <a:stretch>
              <a:fillRect l="-39358" r="-81508"/>
            </a:stretch>
          </a:blipFill>
        </p:spPr>
      </p:sp>
      <p:sp>
        <p:nvSpPr>
          <p:cNvPr id="8" name="Freeform 8"/>
          <p:cNvSpPr/>
          <p:nvPr/>
        </p:nvSpPr>
        <p:spPr>
          <a:xfrm>
            <a:off x="8893278" y="403731"/>
            <a:ext cx="1469922" cy="1105233"/>
          </a:xfrm>
          <a:custGeom>
            <a:avLst/>
            <a:gdLst/>
            <a:ahLst/>
            <a:cxnLst/>
            <a:rect l="l" t="t" r="r" b="b"/>
            <a:pathLst>
              <a:path w="1469922" h="1105233">
                <a:moveTo>
                  <a:pt x="0" y="0"/>
                </a:moveTo>
                <a:lnTo>
                  <a:pt x="1469922" y="0"/>
                </a:lnTo>
                <a:lnTo>
                  <a:pt x="1469922" y="1105233"/>
                </a:lnTo>
                <a:lnTo>
                  <a:pt x="0" y="1105233"/>
                </a:lnTo>
                <a:lnTo>
                  <a:pt x="0" y="0"/>
                </a:lnTo>
                <a:close/>
              </a:path>
            </a:pathLst>
          </a:custGeom>
          <a:blipFill>
            <a:blip r:embed="rId3"/>
            <a:stretch>
              <a:fillRect l="-126" r="-126"/>
            </a:stretch>
          </a:blipFill>
        </p:spPr>
      </p:sp>
      <p:sp>
        <p:nvSpPr>
          <p:cNvPr id="9" name="Freeform 9"/>
          <p:cNvSpPr/>
          <p:nvPr/>
        </p:nvSpPr>
        <p:spPr>
          <a:xfrm>
            <a:off x="6252409" y="3098033"/>
            <a:ext cx="10271142" cy="6606203"/>
          </a:xfrm>
          <a:custGeom>
            <a:avLst/>
            <a:gdLst/>
            <a:ahLst/>
            <a:cxnLst/>
            <a:rect l="l" t="t" r="r" b="b"/>
            <a:pathLst>
              <a:path w="10271142" h="6606203">
                <a:moveTo>
                  <a:pt x="0" y="0"/>
                </a:moveTo>
                <a:lnTo>
                  <a:pt x="10271142" y="0"/>
                </a:lnTo>
                <a:lnTo>
                  <a:pt x="10271142" y="6606203"/>
                </a:lnTo>
                <a:lnTo>
                  <a:pt x="0" y="6606203"/>
                </a:lnTo>
                <a:lnTo>
                  <a:pt x="0" y="0"/>
                </a:lnTo>
                <a:close/>
              </a:path>
            </a:pathLst>
          </a:custGeom>
          <a:blipFill>
            <a:blip r:embed="rId4"/>
            <a:stretch>
              <a:fillRect t="-8498" b="-8498"/>
            </a:stretch>
          </a:blipFill>
        </p:spPr>
        <p:txBody>
          <a:bodyPr/>
          <a:p>
            <a:endParaRPr lang="en-US"/>
          </a:p>
        </p:txBody>
      </p:sp>
      <p:sp>
        <p:nvSpPr>
          <p:cNvPr id="10" name="TextBox 10"/>
          <p:cNvSpPr txBox="1"/>
          <p:nvPr/>
        </p:nvSpPr>
        <p:spPr>
          <a:xfrm>
            <a:off x="1028700" y="3021833"/>
            <a:ext cx="4593167" cy="679474"/>
          </a:xfrm>
          <a:prstGeom prst="rect">
            <a:avLst/>
          </a:prstGeom>
        </p:spPr>
        <p:txBody>
          <a:bodyPr lIns="0" tIns="0" rIns="0" bIns="0" rtlCol="0" anchor="t">
            <a:spAutoFit/>
          </a:bodyPr>
          <a:lstStyle/>
          <a:p>
            <a:pPr algn="ctr">
              <a:lnSpc>
                <a:spcPts val="5600"/>
              </a:lnSpc>
            </a:pPr>
            <a:r>
              <a:rPr lang="en-US" sz="4000" b="1">
                <a:solidFill>
                  <a:srgbClr val="000000"/>
                </a:solidFill>
                <a:latin typeface="Canva Sans Bold" panose="020B0803030501040103"/>
                <a:ea typeface="Canva Sans Bold" panose="020B0803030501040103"/>
                <a:cs typeface="Canva Sans Bold" panose="020B0803030501040103"/>
                <a:sym typeface="Canva Sans Bold" panose="020B0803030501040103"/>
              </a:rPr>
              <a:t>Voltage level-0% </a:t>
            </a:r>
            <a:r>
              <a:rPr lang="en-US" sz="4000">
                <a:solidFill>
                  <a:srgbClr val="000000"/>
                </a:solidFill>
                <a:latin typeface="Canva Sans" panose="020B0503030501040103"/>
                <a:ea typeface="Canva Sans" panose="020B0503030501040103"/>
                <a:cs typeface="Canva Sans" panose="020B0503030501040103"/>
                <a:sym typeface="Canva Sans" panose="020B0503030501040103"/>
              </a:rPr>
              <a:t>: </a:t>
            </a:r>
            <a:endParaRPr lang="en-US" sz="4000">
              <a:solidFill>
                <a:srgbClr val="000000"/>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00190" y="1921413"/>
            <a:ext cx="17694993" cy="767045"/>
            <a:chOff x="0" y="0"/>
            <a:chExt cx="23593324" cy="1022726"/>
          </a:xfrm>
        </p:grpSpPr>
        <p:sp>
          <p:nvSpPr>
            <p:cNvPr id="3" name="Freeform 3"/>
            <p:cNvSpPr/>
            <p:nvPr/>
          </p:nvSpPr>
          <p:spPr>
            <a:xfrm>
              <a:off x="12700" y="12700"/>
              <a:ext cx="23567898" cy="997331"/>
            </a:xfrm>
            <a:custGeom>
              <a:avLst/>
              <a:gdLst/>
              <a:ahLst/>
              <a:cxnLst/>
              <a:rect l="l" t="t" r="r" b="b"/>
              <a:pathLst>
                <a:path w="23567898" h="997331">
                  <a:moveTo>
                    <a:pt x="0" y="0"/>
                  </a:moveTo>
                  <a:lnTo>
                    <a:pt x="23567898" y="0"/>
                  </a:lnTo>
                  <a:lnTo>
                    <a:pt x="23567898" y="997331"/>
                  </a:lnTo>
                  <a:lnTo>
                    <a:pt x="0" y="997331"/>
                  </a:lnTo>
                  <a:close/>
                </a:path>
              </a:pathLst>
            </a:custGeom>
            <a:solidFill>
              <a:srgbClr val="BDD7EE"/>
            </a:solidFill>
          </p:spPr>
        </p:sp>
        <p:sp>
          <p:nvSpPr>
            <p:cNvPr id="4" name="Freeform 4"/>
            <p:cNvSpPr/>
            <p:nvPr/>
          </p:nvSpPr>
          <p:spPr>
            <a:xfrm>
              <a:off x="0" y="0"/>
              <a:ext cx="23593298" cy="1022731"/>
            </a:xfrm>
            <a:custGeom>
              <a:avLst/>
              <a:gdLst/>
              <a:ahLst/>
              <a:cxnLst/>
              <a:rect l="l" t="t" r="r" b="b"/>
              <a:pathLst>
                <a:path w="23593298" h="1022731">
                  <a:moveTo>
                    <a:pt x="12700" y="0"/>
                  </a:moveTo>
                  <a:lnTo>
                    <a:pt x="23580598" y="0"/>
                  </a:lnTo>
                  <a:cubicBezTo>
                    <a:pt x="23587583" y="0"/>
                    <a:pt x="23593298" y="5715"/>
                    <a:pt x="23593298" y="12700"/>
                  </a:cubicBezTo>
                  <a:lnTo>
                    <a:pt x="23593298" y="1010031"/>
                  </a:lnTo>
                  <a:cubicBezTo>
                    <a:pt x="23593298" y="1017016"/>
                    <a:pt x="23587583" y="1022731"/>
                    <a:pt x="23580598" y="1022731"/>
                  </a:cubicBezTo>
                  <a:lnTo>
                    <a:pt x="12700" y="1022731"/>
                  </a:lnTo>
                  <a:cubicBezTo>
                    <a:pt x="5715" y="1022731"/>
                    <a:pt x="0" y="1017016"/>
                    <a:pt x="0" y="1010031"/>
                  </a:cubicBezTo>
                  <a:lnTo>
                    <a:pt x="0" y="12700"/>
                  </a:lnTo>
                  <a:cubicBezTo>
                    <a:pt x="0" y="5715"/>
                    <a:pt x="5715" y="0"/>
                    <a:pt x="12700" y="0"/>
                  </a:cubicBezTo>
                  <a:moveTo>
                    <a:pt x="12700" y="25400"/>
                  </a:moveTo>
                  <a:lnTo>
                    <a:pt x="12700" y="12700"/>
                  </a:lnTo>
                  <a:lnTo>
                    <a:pt x="25400" y="12700"/>
                  </a:lnTo>
                  <a:lnTo>
                    <a:pt x="25400" y="1010031"/>
                  </a:lnTo>
                  <a:lnTo>
                    <a:pt x="12700" y="1010031"/>
                  </a:lnTo>
                  <a:lnTo>
                    <a:pt x="12700" y="997331"/>
                  </a:lnTo>
                  <a:lnTo>
                    <a:pt x="23580598" y="997331"/>
                  </a:lnTo>
                  <a:lnTo>
                    <a:pt x="23580598" y="1010031"/>
                  </a:lnTo>
                  <a:lnTo>
                    <a:pt x="23567898" y="1010031"/>
                  </a:lnTo>
                  <a:lnTo>
                    <a:pt x="23567898" y="12700"/>
                  </a:lnTo>
                  <a:lnTo>
                    <a:pt x="23580598" y="12700"/>
                  </a:lnTo>
                  <a:lnTo>
                    <a:pt x="23580598" y="25400"/>
                  </a:lnTo>
                  <a:lnTo>
                    <a:pt x="12700" y="25400"/>
                  </a:lnTo>
                  <a:close/>
                </a:path>
              </a:pathLst>
            </a:custGeom>
            <a:solidFill>
              <a:srgbClr val="000000"/>
            </a:solidFill>
          </p:spPr>
        </p:sp>
        <p:sp>
          <p:nvSpPr>
            <p:cNvPr id="5" name="TextBox 5"/>
            <p:cNvSpPr txBox="1"/>
            <p:nvPr/>
          </p:nvSpPr>
          <p:spPr>
            <a:xfrm>
              <a:off x="0" y="-238125"/>
              <a:ext cx="23593324" cy="1260851"/>
            </a:xfrm>
            <a:prstGeom prst="rect">
              <a:avLst/>
            </a:prstGeom>
          </p:spPr>
          <p:txBody>
            <a:bodyPr lIns="50800" tIns="50800" rIns="50800" bIns="50800" rtlCol="0" anchor="t"/>
            <a:lstStyle/>
            <a:p>
              <a:pPr algn="ctr">
                <a:lnSpc>
                  <a:spcPts val="5400"/>
                </a:lnSpc>
              </a:pPr>
              <a:r>
                <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HARDWARE PHOTO</a:t>
              </a:r>
              <a:endPar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grpSp>
      <p:sp>
        <p:nvSpPr>
          <p:cNvPr id="6" name="Freeform 6"/>
          <p:cNvSpPr/>
          <p:nvPr/>
        </p:nvSpPr>
        <p:spPr>
          <a:xfrm>
            <a:off x="353975" y="265476"/>
            <a:ext cx="4225401" cy="1437968"/>
          </a:xfrm>
          <a:custGeom>
            <a:avLst/>
            <a:gdLst/>
            <a:ahLst/>
            <a:cxnLst/>
            <a:rect l="l" t="t" r="r" b="b"/>
            <a:pathLst>
              <a:path w="4225401" h="1437968">
                <a:moveTo>
                  <a:pt x="0" y="0"/>
                </a:moveTo>
                <a:lnTo>
                  <a:pt x="4225401" y="0"/>
                </a:lnTo>
                <a:lnTo>
                  <a:pt x="4225401" y="1437968"/>
                </a:lnTo>
                <a:lnTo>
                  <a:pt x="0" y="1437968"/>
                </a:lnTo>
                <a:lnTo>
                  <a:pt x="0" y="0"/>
                </a:lnTo>
                <a:close/>
              </a:path>
            </a:pathLst>
          </a:custGeom>
          <a:blipFill>
            <a:blip r:embed="rId1"/>
            <a:stretch>
              <a:fillRect t="-32285" b="-22005"/>
            </a:stretch>
          </a:blipFill>
        </p:spPr>
      </p:sp>
      <p:sp>
        <p:nvSpPr>
          <p:cNvPr id="7" name="Freeform 7"/>
          <p:cNvSpPr/>
          <p:nvPr/>
        </p:nvSpPr>
        <p:spPr>
          <a:xfrm>
            <a:off x="16923776" y="287592"/>
            <a:ext cx="1020498" cy="953843"/>
          </a:xfrm>
          <a:custGeom>
            <a:avLst/>
            <a:gdLst/>
            <a:ahLst/>
            <a:cxnLst/>
            <a:rect l="l" t="t" r="r" b="b"/>
            <a:pathLst>
              <a:path w="1020498" h="953843">
                <a:moveTo>
                  <a:pt x="0" y="0"/>
                </a:moveTo>
                <a:lnTo>
                  <a:pt x="1020498" y="0"/>
                </a:lnTo>
                <a:lnTo>
                  <a:pt x="1020498" y="953843"/>
                </a:lnTo>
                <a:lnTo>
                  <a:pt x="0" y="953843"/>
                </a:lnTo>
                <a:lnTo>
                  <a:pt x="0" y="0"/>
                </a:lnTo>
                <a:close/>
              </a:path>
            </a:pathLst>
          </a:custGeom>
          <a:blipFill>
            <a:blip r:embed="rId2"/>
            <a:stretch>
              <a:fillRect l="-39358" r="-81508"/>
            </a:stretch>
          </a:blipFill>
        </p:spPr>
      </p:sp>
      <p:sp>
        <p:nvSpPr>
          <p:cNvPr id="8" name="Freeform 8"/>
          <p:cNvSpPr/>
          <p:nvPr/>
        </p:nvSpPr>
        <p:spPr>
          <a:xfrm>
            <a:off x="8893278" y="403731"/>
            <a:ext cx="1469922" cy="1105233"/>
          </a:xfrm>
          <a:custGeom>
            <a:avLst/>
            <a:gdLst/>
            <a:ahLst/>
            <a:cxnLst/>
            <a:rect l="l" t="t" r="r" b="b"/>
            <a:pathLst>
              <a:path w="1469922" h="1105233">
                <a:moveTo>
                  <a:pt x="0" y="0"/>
                </a:moveTo>
                <a:lnTo>
                  <a:pt x="1469922" y="0"/>
                </a:lnTo>
                <a:lnTo>
                  <a:pt x="1469922" y="1105233"/>
                </a:lnTo>
                <a:lnTo>
                  <a:pt x="0" y="1105233"/>
                </a:lnTo>
                <a:lnTo>
                  <a:pt x="0" y="0"/>
                </a:lnTo>
                <a:close/>
              </a:path>
            </a:pathLst>
          </a:custGeom>
          <a:blipFill>
            <a:blip r:embed="rId3"/>
            <a:stretch>
              <a:fillRect l="-126" r="-126"/>
            </a:stretch>
          </a:blipFill>
        </p:spPr>
      </p:sp>
      <p:sp>
        <p:nvSpPr>
          <p:cNvPr id="9" name="Freeform 9"/>
          <p:cNvSpPr/>
          <p:nvPr/>
        </p:nvSpPr>
        <p:spPr>
          <a:xfrm rot="5400000">
            <a:off x="8504174" y="1722052"/>
            <a:ext cx="6759088" cy="9511049"/>
          </a:xfrm>
          <a:custGeom>
            <a:avLst/>
            <a:gdLst/>
            <a:ahLst/>
            <a:cxnLst/>
            <a:rect l="l" t="t" r="r" b="b"/>
            <a:pathLst>
              <a:path w="6759088" h="9511049">
                <a:moveTo>
                  <a:pt x="0" y="0"/>
                </a:moveTo>
                <a:lnTo>
                  <a:pt x="6759088" y="0"/>
                </a:lnTo>
                <a:lnTo>
                  <a:pt x="6759088" y="9511049"/>
                </a:lnTo>
                <a:lnTo>
                  <a:pt x="0" y="9511049"/>
                </a:lnTo>
                <a:lnTo>
                  <a:pt x="0" y="0"/>
                </a:lnTo>
                <a:close/>
              </a:path>
            </a:pathLst>
          </a:custGeom>
          <a:blipFill>
            <a:blip r:embed="rId4"/>
            <a:stretch>
              <a:fillRect l="-2944" r="-2944"/>
            </a:stretch>
          </a:blipFill>
        </p:spPr>
      </p:sp>
      <p:sp>
        <p:nvSpPr>
          <p:cNvPr id="10" name="TextBox 10"/>
          <p:cNvSpPr txBox="1"/>
          <p:nvPr/>
        </p:nvSpPr>
        <p:spPr>
          <a:xfrm>
            <a:off x="1028700" y="3021832"/>
            <a:ext cx="5018424" cy="679474"/>
          </a:xfrm>
          <a:prstGeom prst="rect">
            <a:avLst/>
          </a:prstGeom>
        </p:spPr>
        <p:txBody>
          <a:bodyPr lIns="0" tIns="0" rIns="0" bIns="0" rtlCol="0" anchor="t">
            <a:spAutoFit/>
          </a:bodyPr>
          <a:lstStyle/>
          <a:p>
            <a:pPr algn="ctr">
              <a:lnSpc>
                <a:spcPts val="5600"/>
              </a:lnSpc>
            </a:pPr>
            <a:r>
              <a:rPr lang="en-US" sz="4000" b="1">
                <a:solidFill>
                  <a:srgbClr val="000000"/>
                </a:solidFill>
                <a:latin typeface="Canva Sans Bold" panose="020B0803030501040103"/>
                <a:ea typeface="Canva Sans Bold" panose="020B0803030501040103"/>
                <a:cs typeface="Canva Sans Bold" panose="020B0803030501040103"/>
                <a:sym typeface="Canva Sans Bold" panose="020B0803030501040103"/>
              </a:rPr>
              <a:t>Voltage level - 50%</a:t>
            </a:r>
            <a:r>
              <a:rPr lang="en-US" sz="4000">
                <a:solidFill>
                  <a:srgbClr val="000000"/>
                </a:solidFill>
                <a:latin typeface="Canva Sans" panose="020B0503030501040103"/>
                <a:ea typeface="Canva Sans" panose="020B0503030501040103"/>
                <a:cs typeface="Canva Sans" panose="020B0503030501040103"/>
                <a:sym typeface="Canva Sans" panose="020B0503030501040103"/>
              </a:rPr>
              <a:t> :</a:t>
            </a:r>
            <a:endParaRPr lang="en-US" sz="4000">
              <a:solidFill>
                <a:srgbClr val="000000"/>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transition>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00190" y="1921413"/>
            <a:ext cx="17694993" cy="767045"/>
            <a:chOff x="0" y="0"/>
            <a:chExt cx="23593324" cy="1022726"/>
          </a:xfrm>
        </p:grpSpPr>
        <p:sp>
          <p:nvSpPr>
            <p:cNvPr id="3" name="Freeform 3"/>
            <p:cNvSpPr/>
            <p:nvPr/>
          </p:nvSpPr>
          <p:spPr>
            <a:xfrm>
              <a:off x="12700" y="12700"/>
              <a:ext cx="23567898" cy="997331"/>
            </a:xfrm>
            <a:custGeom>
              <a:avLst/>
              <a:gdLst/>
              <a:ahLst/>
              <a:cxnLst/>
              <a:rect l="l" t="t" r="r" b="b"/>
              <a:pathLst>
                <a:path w="23567898" h="997331">
                  <a:moveTo>
                    <a:pt x="0" y="0"/>
                  </a:moveTo>
                  <a:lnTo>
                    <a:pt x="23567898" y="0"/>
                  </a:lnTo>
                  <a:lnTo>
                    <a:pt x="23567898" y="997331"/>
                  </a:lnTo>
                  <a:lnTo>
                    <a:pt x="0" y="997331"/>
                  </a:lnTo>
                  <a:close/>
                </a:path>
              </a:pathLst>
            </a:custGeom>
            <a:solidFill>
              <a:srgbClr val="BDD7EE"/>
            </a:solidFill>
          </p:spPr>
        </p:sp>
        <p:sp>
          <p:nvSpPr>
            <p:cNvPr id="4" name="Freeform 4"/>
            <p:cNvSpPr/>
            <p:nvPr/>
          </p:nvSpPr>
          <p:spPr>
            <a:xfrm>
              <a:off x="0" y="0"/>
              <a:ext cx="23593298" cy="1022731"/>
            </a:xfrm>
            <a:custGeom>
              <a:avLst/>
              <a:gdLst/>
              <a:ahLst/>
              <a:cxnLst/>
              <a:rect l="l" t="t" r="r" b="b"/>
              <a:pathLst>
                <a:path w="23593298" h="1022731">
                  <a:moveTo>
                    <a:pt x="12700" y="0"/>
                  </a:moveTo>
                  <a:lnTo>
                    <a:pt x="23580598" y="0"/>
                  </a:lnTo>
                  <a:cubicBezTo>
                    <a:pt x="23587583" y="0"/>
                    <a:pt x="23593298" y="5715"/>
                    <a:pt x="23593298" y="12700"/>
                  </a:cubicBezTo>
                  <a:lnTo>
                    <a:pt x="23593298" y="1010031"/>
                  </a:lnTo>
                  <a:cubicBezTo>
                    <a:pt x="23593298" y="1017016"/>
                    <a:pt x="23587583" y="1022731"/>
                    <a:pt x="23580598" y="1022731"/>
                  </a:cubicBezTo>
                  <a:lnTo>
                    <a:pt x="12700" y="1022731"/>
                  </a:lnTo>
                  <a:cubicBezTo>
                    <a:pt x="5715" y="1022731"/>
                    <a:pt x="0" y="1017016"/>
                    <a:pt x="0" y="1010031"/>
                  </a:cubicBezTo>
                  <a:lnTo>
                    <a:pt x="0" y="12700"/>
                  </a:lnTo>
                  <a:cubicBezTo>
                    <a:pt x="0" y="5715"/>
                    <a:pt x="5715" y="0"/>
                    <a:pt x="12700" y="0"/>
                  </a:cubicBezTo>
                  <a:moveTo>
                    <a:pt x="12700" y="25400"/>
                  </a:moveTo>
                  <a:lnTo>
                    <a:pt x="12700" y="12700"/>
                  </a:lnTo>
                  <a:lnTo>
                    <a:pt x="25400" y="12700"/>
                  </a:lnTo>
                  <a:lnTo>
                    <a:pt x="25400" y="1010031"/>
                  </a:lnTo>
                  <a:lnTo>
                    <a:pt x="12700" y="1010031"/>
                  </a:lnTo>
                  <a:lnTo>
                    <a:pt x="12700" y="997331"/>
                  </a:lnTo>
                  <a:lnTo>
                    <a:pt x="23580598" y="997331"/>
                  </a:lnTo>
                  <a:lnTo>
                    <a:pt x="23580598" y="1010031"/>
                  </a:lnTo>
                  <a:lnTo>
                    <a:pt x="23567898" y="1010031"/>
                  </a:lnTo>
                  <a:lnTo>
                    <a:pt x="23567898" y="12700"/>
                  </a:lnTo>
                  <a:lnTo>
                    <a:pt x="23580598" y="12700"/>
                  </a:lnTo>
                  <a:lnTo>
                    <a:pt x="23580598" y="25400"/>
                  </a:lnTo>
                  <a:lnTo>
                    <a:pt x="12700" y="25400"/>
                  </a:lnTo>
                  <a:close/>
                </a:path>
              </a:pathLst>
            </a:custGeom>
            <a:solidFill>
              <a:srgbClr val="000000"/>
            </a:solidFill>
          </p:spPr>
        </p:sp>
        <p:sp>
          <p:nvSpPr>
            <p:cNvPr id="5" name="TextBox 5"/>
            <p:cNvSpPr txBox="1"/>
            <p:nvPr/>
          </p:nvSpPr>
          <p:spPr>
            <a:xfrm>
              <a:off x="0" y="-238125"/>
              <a:ext cx="23593324" cy="1260851"/>
            </a:xfrm>
            <a:prstGeom prst="rect">
              <a:avLst/>
            </a:prstGeom>
          </p:spPr>
          <p:txBody>
            <a:bodyPr lIns="50800" tIns="50800" rIns="50800" bIns="50800" rtlCol="0" anchor="t"/>
            <a:lstStyle/>
            <a:p>
              <a:pPr algn="ctr">
                <a:lnSpc>
                  <a:spcPts val="5400"/>
                </a:lnSpc>
              </a:pPr>
              <a:r>
                <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HARDWARE PHOTO</a:t>
              </a:r>
              <a:endPar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grpSp>
      <p:sp>
        <p:nvSpPr>
          <p:cNvPr id="6" name="Freeform 6"/>
          <p:cNvSpPr/>
          <p:nvPr/>
        </p:nvSpPr>
        <p:spPr>
          <a:xfrm>
            <a:off x="353975" y="265476"/>
            <a:ext cx="4225401" cy="1437968"/>
          </a:xfrm>
          <a:custGeom>
            <a:avLst/>
            <a:gdLst/>
            <a:ahLst/>
            <a:cxnLst/>
            <a:rect l="l" t="t" r="r" b="b"/>
            <a:pathLst>
              <a:path w="4225401" h="1437968">
                <a:moveTo>
                  <a:pt x="0" y="0"/>
                </a:moveTo>
                <a:lnTo>
                  <a:pt x="4225401" y="0"/>
                </a:lnTo>
                <a:lnTo>
                  <a:pt x="4225401" y="1437968"/>
                </a:lnTo>
                <a:lnTo>
                  <a:pt x="0" y="1437968"/>
                </a:lnTo>
                <a:lnTo>
                  <a:pt x="0" y="0"/>
                </a:lnTo>
                <a:close/>
              </a:path>
            </a:pathLst>
          </a:custGeom>
          <a:blipFill>
            <a:blip r:embed="rId1"/>
            <a:stretch>
              <a:fillRect t="-32285" b="-22005"/>
            </a:stretch>
          </a:blipFill>
        </p:spPr>
      </p:sp>
      <p:sp>
        <p:nvSpPr>
          <p:cNvPr id="7" name="Freeform 7"/>
          <p:cNvSpPr/>
          <p:nvPr/>
        </p:nvSpPr>
        <p:spPr>
          <a:xfrm>
            <a:off x="16923776" y="287592"/>
            <a:ext cx="1020498" cy="953843"/>
          </a:xfrm>
          <a:custGeom>
            <a:avLst/>
            <a:gdLst/>
            <a:ahLst/>
            <a:cxnLst/>
            <a:rect l="l" t="t" r="r" b="b"/>
            <a:pathLst>
              <a:path w="1020498" h="953843">
                <a:moveTo>
                  <a:pt x="0" y="0"/>
                </a:moveTo>
                <a:lnTo>
                  <a:pt x="1020498" y="0"/>
                </a:lnTo>
                <a:lnTo>
                  <a:pt x="1020498" y="953843"/>
                </a:lnTo>
                <a:lnTo>
                  <a:pt x="0" y="953843"/>
                </a:lnTo>
                <a:lnTo>
                  <a:pt x="0" y="0"/>
                </a:lnTo>
                <a:close/>
              </a:path>
            </a:pathLst>
          </a:custGeom>
          <a:blipFill>
            <a:blip r:embed="rId2"/>
            <a:stretch>
              <a:fillRect l="-39358" r="-81508"/>
            </a:stretch>
          </a:blipFill>
        </p:spPr>
      </p:sp>
      <p:sp>
        <p:nvSpPr>
          <p:cNvPr id="8" name="Freeform 8"/>
          <p:cNvSpPr/>
          <p:nvPr/>
        </p:nvSpPr>
        <p:spPr>
          <a:xfrm>
            <a:off x="8893278" y="403731"/>
            <a:ext cx="1469922" cy="1105233"/>
          </a:xfrm>
          <a:custGeom>
            <a:avLst/>
            <a:gdLst/>
            <a:ahLst/>
            <a:cxnLst/>
            <a:rect l="l" t="t" r="r" b="b"/>
            <a:pathLst>
              <a:path w="1469922" h="1105233">
                <a:moveTo>
                  <a:pt x="0" y="0"/>
                </a:moveTo>
                <a:lnTo>
                  <a:pt x="1469922" y="0"/>
                </a:lnTo>
                <a:lnTo>
                  <a:pt x="1469922" y="1105233"/>
                </a:lnTo>
                <a:lnTo>
                  <a:pt x="0" y="1105233"/>
                </a:lnTo>
                <a:lnTo>
                  <a:pt x="0" y="0"/>
                </a:lnTo>
                <a:close/>
              </a:path>
            </a:pathLst>
          </a:custGeom>
          <a:blipFill>
            <a:blip r:embed="rId3"/>
            <a:stretch>
              <a:fillRect l="-126" r="-126"/>
            </a:stretch>
          </a:blipFill>
        </p:spPr>
      </p:sp>
      <p:sp>
        <p:nvSpPr>
          <p:cNvPr id="9" name="Freeform 9"/>
          <p:cNvSpPr/>
          <p:nvPr/>
        </p:nvSpPr>
        <p:spPr>
          <a:xfrm rot="-10800000">
            <a:off x="7062321" y="3098033"/>
            <a:ext cx="9861455" cy="6337631"/>
          </a:xfrm>
          <a:custGeom>
            <a:avLst/>
            <a:gdLst/>
            <a:ahLst/>
            <a:cxnLst/>
            <a:rect l="l" t="t" r="r" b="b"/>
            <a:pathLst>
              <a:path w="9861455" h="6337631">
                <a:moveTo>
                  <a:pt x="0" y="0"/>
                </a:moveTo>
                <a:lnTo>
                  <a:pt x="9861455" y="0"/>
                </a:lnTo>
                <a:lnTo>
                  <a:pt x="9861455" y="6337631"/>
                </a:lnTo>
                <a:lnTo>
                  <a:pt x="0" y="6337631"/>
                </a:lnTo>
                <a:lnTo>
                  <a:pt x="0" y="0"/>
                </a:lnTo>
                <a:close/>
              </a:path>
            </a:pathLst>
          </a:custGeom>
          <a:blipFill>
            <a:blip r:embed="rId4"/>
            <a:stretch>
              <a:fillRect l="-7293" t="-21931" b="-3698"/>
            </a:stretch>
          </a:blipFill>
        </p:spPr>
      </p:sp>
      <p:sp>
        <p:nvSpPr>
          <p:cNvPr id="10" name="TextBox 10"/>
          <p:cNvSpPr txBox="1"/>
          <p:nvPr/>
        </p:nvSpPr>
        <p:spPr>
          <a:xfrm>
            <a:off x="1028700" y="3021832"/>
            <a:ext cx="5014757" cy="679474"/>
          </a:xfrm>
          <a:prstGeom prst="rect">
            <a:avLst/>
          </a:prstGeom>
        </p:spPr>
        <p:txBody>
          <a:bodyPr lIns="0" tIns="0" rIns="0" bIns="0" rtlCol="0" anchor="t">
            <a:spAutoFit/>
          </a:bodyPr>
          <a:lstStyle/>
          <a:p>
            <a:pPr algn="ctr">
              <a:lnSpc>
                <a:spcPts val="5600"/>
              </a:lnSpc>
            </a:pPr>
            <a:r>
              <a:rPr lang="en-US" sz="4000" b="1">
                <a:solidFill>
                  <a:srgbClr val="000000"/>
                </a:solidFill>
                <a:latin typeface="Canva Sans Bold" panose="020B0803030501040103"/>
                <a:ea typeface="Canva Sans Bold" panose="020B0803030501040103"/>
                <a:cs typeface="Canva Sans Bold" panose="020B0803030501040103"/>
                <a:sym typeface="Canva Sans Bold" panose="020B0803030501040103"/>
              </a:rPr>
              <a:t>Voltage level 100% </a:t>
            </a:r>
            <a:r>
              <a:rPr lang="en-US" sz="4000">
                <a:solidFill>
                  <a:srgbClr val="000000"/>
                </a:solidFill>
                <a:latin typeface="Canva Sans" panose="020B0503030501040103"/>
                <a:ea typeface="Canva Sans" panose="020B0503030501040103"/>
                <a:cs typeface="Canva Sans" panose="020B0503030501040103"/>
                <a:sym typeface="Canva Sans" panose="020B0503030501040103"/>
              </a:rPr>
              <a:t>:</a:t>
            </a:r>
            <a:endParaRPr lang="en-US" sz="4000">
              <a:solidFill>
                <a:srgbClr val="000000"/>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44450" y="1630908"/>
            <a:ext cx="17694993" cy="767044"/>
            <a:chOff x="0" y="0"/>
            <a:chExt cx="23593324" cy="1022726"/>
          </a:xfrm>
        </p:grpSpPr>
        <p:sp>
          <p:nvSpPr>
            <p:cNvPr id="3" name="Freeform 3"/>
            <p:cNvSpPr/>
            <p:nvPr/>
          </p:nvSpPr>
          <p:spPr>
            <a:xfrm>
              <a:off x="12700" y="12700"/>
              <a:ext cx="23567898" cy="997331"/>
            </a:xfrm>
            <a:custGeom>
              <a:avLst/>
              <a:gdLst/>
              <a:ahLst/>
              <a:cxnLst/>
              <a:rect l="l" t="t" r="r" b="b"/>
              <a:pathLst>
                <a:path w="23567898" h="997331">
                  <a:moveTo>
                    <a:pt x="0" y="0"/>
                  </a:moveTo>
                  <a:lnTo>
                    <a:pt x="23567898" y="0"/>
                  </a:lnTo>
                  <a:lnTo>
                    <a:pt x="23567898" y="997331"/>
                  </a:lnTo>
                  <a:lnTo>
                    <a:pt x="0" y="997331"/>
                  </a:lnTo>
                  <a:close/>
                </a:path>
              </a:pathLst>
            </a:custGeom>
            <a:solidFill>
              <a:srgbClr val="BDD7EE"/>
            </a:solidFill>
          </p:spPr>
        </p:sp>
        <p:sp>
          <p:nvSpPr>
            <p:cNvPr id="4" name="Freeform 4"/>
            <p:cNvSpPr/>
            <p:nvPr/>
          </p:nvSpPr>
          <p:spPr>
            <a:xfrm>
              <a:off x="0" y="0"/>
              <a:ext cx="23593298" cy="1022731"/>
            </a:xfrm>
            <a:custGeom>
              <a:avLst/>
              <a:gdLst/>
              <a:ahLst/>
              <a:cxnLst/>
              <a:rect l="l" t="t" r="r" b="b"/>
              <a:pathLst>
                <a:path w="23593298" h="1022731">
                  <a:moveTo>
                    <a:pt x="12700" y="0"/>
                  </a:moveTo>
                  <a:lnTo>
                    <a:pt x="23580598" y="0"/>
                  </a:lnTo>
                  <a:cubicBezTo>
                    <a:pt x="23587583" y="0"/>
                    <a:pt x="23593298" y="5715"/>
                    <a:pt x="23593298" y="12700"/>
                  </a:cubicBezTo>
                  <a:lnTo>
                    <a:pt x="23593298" y="1010031"/>
                  </a:lnTo>
                  <a:cubicBezTo>
                    <a:pt x="23593298" y="1017016"/>
                    <a:pt x="23587583" y="1022731"/>
                    <a:pt x="23580598" y="1022731"/>
                  </a:cubicBezTo>
                  <a:lnTo>
                    <a:pt x="12700" y="1022731"/>
                  </a:lnTo>
                  <a:cubicBezTo>
                    <a:pt x="5715" y="1022731"/>
                    <a:pt x="0" y="1017016"/>
                    <a:pt x="0" y="1010031"/>
                  </a:cubicBezTo>
                  <a:lnTo>
                    <a:pt x="0" y="12700"/>
                  </a:lnTo>
                  <a:cubicBezTo>
                    <a:pt x="0" y="5715"/>
                    <a:pt x="5715" y="0"/>
                    <a:pt x="12700" y="0"/>
                  </a:cubicBezTo>
                  <a:moveTo>
                    <a:pt x="12700" y="25400"/>
                  </a:moveTo>
                  <a:lnTo>
                    <a:pt x="12700" y="12700"/>
                  </a:lnTo>
                  <a:lnTo>
                    <a:pt x="25400" y="12700"/>
                  </a:lnTo>
                  <a:lnTo>
                    <a:pt x="25400" y="1010031"/>
                  </a:lnTo>
                  <a:lnTo>
                    <a:pt x="12700" y="1010031"/>
                  </a:lnTo>
                  <a:lnTo>
                    <a:pt x="12700" y="997331"/>
                  </a:lnTo>
                  <a:lnTo>
                    <a:pt x="23580598" y="997331"/>
                  </a:lnTo>
                  <a:lnTo>
                    <a:pt x="23580598" y="1010031"/>
                  </a:lnTo>
                  <a:lnTo>
                    <a:pt x="23567898" y="1010031"/>
                  </a:lnTo>
                  <a:lnTo>
                    <a:pt x="23567898" y="12700"/>
                  </a:lnTo>
                  <a:lnTo>
                    <a:pt x="23580598" y="12700"/>
                  </a:lnTo>
                  <a:lnTo>
                    <a:pt x="23580598" y="25400"/>
                  </a:lnTo>
                  <a:lnTo>
                    <a:pt x="12700" y="25400"/>
                  </a:lnTo>
                  <a:close/>
                </a:path>
              </a:pathLst>
            </a:custGeom>
            <a:solidFill>
              <a:srgbClr val="000000"/>
            </a:solidFill>
          </p:spPr>
        </p:sp>
        <p:sp>
          <p:nvSpPr>
            <p:cNvPr id="5" name="TextBox 5"/>
            <p:cNvSpPr txBox="1"/>
            <p:nvPr/>
          </p:nvSpPr>
          <p:spPr>
            <a:xfrm>
              <a:off x="0" y="-238125"/>
              <a:ext cx="23593324" cy="1260851"/>
            </a:xfrm>
            <a:prstGeom prst="rect">
              <a:avLst/>
            </a:prstGeom>
          </p:spPr>
          <p:txBody>
            <a:bodyPr lIns="50800" tIns="50800" rIns="50800" bIns="50800" rtlCol="0" anchor="t"/>
            <a:lstStyle/>
            <a:p>
              <a:pPr algn="ctr">
                <a:lnSpc>
                  <a:spcPts val="5400"/>
                </a:lnSpc>
              </a:pPr>
              <a:r>
                <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WORKING</a:t>
              </a:r>
              <a:endPar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grpSp>
      <p:sp>
        <p:nvSpPr>
          <p:cNvPr id="6" name="Freeform 6"/>
          <p:cNvSpPr/>
          <p:nvPr/>
        </p:nvSpPr>
        <p:spPr>
          <a:xfrm>
            <a:off x="353975" y="265476"/>
            <a:ext cx="4225401" cy="1437968"/>
          </a:xfrm>
          <a:custGeom>
            <a:avLst/>
            <a:gdLst/>
            <a:ahLst/>
            <a:cxnLst/>
            <a:rect l="l" t="t" r="r" b="b"/>
            <a:pathLst>
              <a:path w="4225401" h="1437968">
                <a:moveTo>
                  <a:pt x="0" y="0"/>
                </a:moveTo>
                <a:lnTo>
                  <a:pt x="4225401" y="0"/>
                </a:lnTo>
                <a:lnTo>
                  <a:pt x="4225401" y="1437968"/>
                </a:lnTo>
                <a:lnTo>
                  <a:pt x="0" y="1437968"/>
                </a:lnTo>
                <a:lnTo>
                  <a:pt x="0" y="0"/>
                </a:lnTo>
                <a:close/>
              </a:path>
            </a:pathLst>
          </a:custGeom>
          <a:blipFill>
            <a:blip r:embed="rId1"/>
            <a:stretch>
              <a:fillRect t="-32285" b="-22005"/>
            </a:stretch>
          </a:blipFill>
        </p:spPr>
      </p:sp>
      <p:sp>
        <p:nvSpPr>
          <p:cNvPr id="7" name="Freeform 7"/>
          <p:cNvSpPr/>
          <p:nvPr/>
        </p:nvSpPr>
        <p:spPr>
          <a:xfrm>
            <a:off x="16923776" y="287592"/>
            <a:ext cx="1020498" cy="953843"/>
          </a:xfrm>
          <a:custGeom>
            <a:avLst/>
            <a:gdLst/>
            <a:ahLst/>
            <a:cxnLst/>
            <a:rect l="l" t="t" r="r" b="b"/>
            <a:pathLst>
              <a:path w="1020498" h="953843">
                <a:moveTo>
                  <a:pt x="0" y="0"/>
                </a:moveTo>
                <a:lnTo>
                  <a:pt x="1020498" y="0"/>
                </a:lnTo>
                <a:lnTo>
                  <a:pt x="1020498" y="953843"/>
                </a:lnTo>
                <a:lnTo>
                  <a:pt x="0" y="953843"/>
                </a:lnTo>
                <a:lnTo>
                  <a:pt x="0" y="0"/>
                </a:lnTo>
                <a:close/>
              </a:path>
            </a:pathLst>
          </a:custGeom>
          <a:blipFill>
            <a:blip r:embed="rId2"/>
            <a:stretch>
              <a:fillRect l="-39358" r="-81508"/>
            </a:stretch>
          </a:blipFill>
        </p:spPr>
      </p:sp>
      <p:sp>
        <p:nvSpPr>
          <p:cNvPr id="8" name="Freeform 8"/>
          <p:cNvSpPr/>
          <p:nvPr/>
        </p:nvSpPr>
        <p:spPr>
          <a:xfrm>
            <a:off x="8893278" y="403731"/>
            <a:ext cx="1469922" cy="1105233"/>
          </a:xfrm>
          <a:custGeom>
            <a:avLst/>
            <a:gdLst/>
            <a:ahLst/>
            <a:cxnLst/>
            <a:rect l="l" t="t" r="r" b="b"/>
            <a:pathLst>
              <a:path w="1469922" h="1105233">
                <a:moveTo>
                  <a:pt x="0" y="0"/>
                </a:moveTo>
                <a:lnTo>
                  <a:pt x="1469922" y="0"/>
                </a:lnTo>
                <a:lnTo>
                  <a:pt x="1469922" y="1105233"/>
                </a:lnTo>
                <a:lnTo>
                  <a:pt x="0" y="1105233"/>
                </a:lnTo>
                <a:lnTo>
                  <a:pt x="0" y="0"/>
                </a:lnTo>
                <a:close/>
              </a:path>
            </a:pathLst>
          </a:custGeom>
          <a:blipFill>
            <a:blip r:embed="rId3"/>
            <a:stretch>
              <a:fillRect l="-126" r="-126"/>
            </a:stretch>
          </a:blipFill>
        </p:spPr>
      </p:sp>
      <p:sp>
        <p:nvSpPr>
          <p:cNvPr id="9" name="TextBox 9"/>
          <p:cNvSpPr txBox="1"/>
          <p:nvPr/>
        </p:nvSpPr>
        <p:spPr>
          <a:xfrm>
            <a:off x="0" y="2876909"/>
            <a:ext cx="18288000" cy="4895385"/>
          </a:xfrm>
          <a:prstGeom prst="rect">
            <a:avLst/>
          </a:prstGeom>
        </p:spPr>
        <p:txBody>
          <a:bodyPr lIns="0" tIns="0" rIns="0" bIns="0" rtlCol="0" anchor="t">
            <a:spAutoFit/>
          </a:bodyPr>
          <a:lstStyle/>
          <a:p>
            <a:pPr marL="734060" lvl="1" indent="-367030" algn="l">
              <a:lnSpc>
                <a:spcPts val="5505"/>
              </a:lnSpc>
              <a:buFont typeface="Arial" panose="020B0604020202020204"/>
              <a:buChar char="•"/>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The Battery Voltage Monitor operates using an LM339 comparator IC to compare the battery voltage with preset reference voltages. The circuit consists of four comparators within the LM339, each configured to detect a specific voltage level. A variable resistor is used to set the reference voltage for comparison.</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34060" lvl="1" indent="-367030" algn="l">
              <a:lnSpc>
                <a:spcPts val="5505"/>
              </a:lnSpc>
              <a:buFont typeface="Arial" panose="020B0604020202020204"/>
              <a:buChar char="•"/>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When the battery voltage reaches or exceeds a particular threshold, the corresponding comparator output goes low, activating the connected LED. Each LED represents a specific voltage range, providing a clear visual indication of the battery's status.</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44450" y="1630908"/>
            <a:ext cx="17694993" cy="767044"/>
            <a:chOff x="0" y="0"/>
            <a:chExt cx="23593324" cy="1022726"/>
          </a:xfrm>
        </p:grpSpPr>
        <p:sp>
          <p:nvSpPr>
            <p:cNvPr id="3" name="Freeform 3"/>
            <p:cNvSpPr/>
            <p:nvPr/>
          </p:nvSpPr>
          <p:spPr>
            <a:xfrm>
              <a:off x="12700" y="12700"/>
              <a:ext cx="23567898" cy="997331"/>
            </a:xfrm>
            <a:custGeom>
              <a:avLst/>
              <a:gdLst/>
              <a:ahLst/>
              <a:cxnLst/>
              <a:rect l="l" t="t" r="r" b="b"/>
              <a:pathLst>
                <a:path w="23567898" h="997331">
                  <a:moveTo>
                    <a:pt x="0" y="0"/>
                  </a:moveTo>
                  <a:lnTo>
                    <a:pt x="23567898" y="0"/>
                  </a:lnTo>
                  <a:lnTo>
                    <a:pt x="23567898" y="997331"/>
                  </a:lnTo>
                  <a:lnTo>
                    <a:pt x="0" y="997331"/>
                  </a:lnTo>
                  <a:close/>
                </a:path>
              </a:pathLst>
            </a:custGeom>
            <a:solidFill>
              <a:srgbClr val="BDD7EE"/>
            </a:solidFill>
          </p:spPr>
        </p:sp>
        <p:sp>
          <p:nvSpPr>
            <p:cNvPr id="4" name="Freeform 4"/>
            <p:cNvSpPr/>
            <p:nvPr/>
          </p:nvSpPr>
          <p:spPr>
            <a:xfrm>
              <a:off x="0" y="0"/>
              <a:ext cx="23593298" cy="1022731"/>
            </a:xfrm>
            <a:custGeom>
              <a:avLst/>
              <a:gdLst/>
              <a:ahLst/>
              <a:cxnLst/>
              <a:rect l="l" t="t" r="r" b="b"/>
              <a:pathLst>
                <a:path w="23593298" h="1022731">
                  <a:moveTo>
                    <a:pt x="12700" y="0"/>
                  </a:moveTo>
                  <a:lnTo>
                    <a:pt x="23580598" y="0"/>
                  </a:lnTo>
                  <a:cubicBezTo>
                    <a:pt x="23587583" y="0"/>
                    <a:pt x="23593298" y="5715"/>
                    <a:pt x="23593298" y="12700"/>
                  </a:cubicBezTo>
                  <a:lnTo>
                    <a:pt x="23593298" y="1010031"/>
                  </a:lnTo>
                  <a:cubicBezTo>
                    <a:pt x="23593298" y="1017016"/>
                    <a:pt x="23587583" y="1022731"/>
                    <a:pt x="23580598" y="1022731"/>
                  </a:cubicBezTo>
                  <a:lnTo>
                    <a:pt x="12700" y="1022731"/>
                  </a:lnTo>
                  <a:cubicBezTo>
                    <a:pt x="5715" y="1022731"/>
                    <a:pt x="0" y="1017016"/>
                    <a:pt x="0" y="1010031"/>
                  </a:cubicBezTo>
                  <a:lnTo>
                    <a:pt x="0" y="12700"/>
                  </a:lnTo>
                  <a:cubicBezTo>
                    <a:pt x="0" y="5715"/>
                    <a:pt x="5715" y="0"/>
                    <a:pt x="12700" y="0"/>
                  </a:cubicBezTo>
                  <a:moveTo>
                    <a:pt x="12700" y="25400"/>
                  </a:moveTo>
                  <a:lnTo>
                    <a:pt x="12700" y="12700"/>
                  </a:lnTo>
                  <a:lnTo>
                    <a:pt x="25400" y="12700"/>
                  </a:lnTo>
                  <a:lnTo>
                    <a:pt x="25400" y="1010031"/>
                  </a:lnTo>
                  <a:lnTo>
                    <a:pt x="12700" y="1010031"/>
                  </a:lnTo>
                  <a:lnTo>
                    <a:pt x="12700" y="997331"/>
                  </a:lnTo>
                  <a:lnTo>
                    <a:pt x="23580598" y="997331"/>
                  </a:lnTo>
                  <a:lnTo>
                    <a:pt x="23580598" y="1010031"/>
                  </a:lnTo>
                  <a:lnTo>
                    <a:pt x="23567898" y="1010031"/>
                  </a:lnTo>
                  <a:lnTo>
                    <a:pt x="23567898" y="12700"/>
                  </a:lnTo>
                  <a:lnTo>
                    <a:pt x="23580598" y="12700"/>
                  </a:lnTo>
                  <a:lnTo>
                    <a:pt x="23580598" y="25400"/>
                  </a:lnTo>
                  <a:lnTo>
                    <a:pt x="12700" y="25400"/>
                  </a:lnTo>
                  <a:close/>
                </a:path>
              </a:pathLst>
            </a:custGeom>
            <a:solidFill>
              <a:srgbClr val="000000"/>
            </a:solidFill>
          </p:spPr>
        </p:sp>
        <p:sp>
          <p:nvSpPr>
            <p:cNvPr id="5" name="TextBox 5"/>
            <p:cNvSpPr txBox="1"/>
            <p:nvPr/>
          </p:nvSpPr>
          <p:spPr>
            <a:xfrm>
              <a:off x="0" y="-238125"/>
              <a:ext cx="23593324" cy="1260851"/>
            </a:xfrm>
            <a:prstGeom prst="rect">
              <a:avLst/>
            </a:prstGeom>
          </p:spPr>
          <p:txBody>
            <a:bodyPr lIns="50800" tIns="50800" rIns="50800" bIns="50800" rtlCol="0" anchor="t"/>
            <a:lstStyle/>
            <a:p>
              <a:pPr algn="ctr">
                <a:lnSpc>
                  <a:spcPts val="5400"/>
                </a:lnSpc>
              </a:pPr>
              <a:r>
                <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WORKING</a:t>
              </a:r>
              <a:endPar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grpSp>
      <p:sp>
        <p:nvSpPr>
          <p:cNvPr id="6" name="Freeform 6"/>
          <p:cNvSpPr/>
          <p:nvPr/>
        </p:nvSpPr>
        <p:spPr>
          <a:xfrm>
            <a:off x="353975" y="265476"/>
            <a:ext cx="4225401" cy="1437968"/>
          </a:xfrm>
          <a:custGeom>
            <a:avLst/>
            <a:gdLst/>
            <a:ahLst/>
            <a:cxnLst/>
            <a:rect l="l" t="t" r="r" b="b"/>
            <a:pathLst>
              <a:path w="4225401" h="1437968">
                <a:moveTo>
                  <a:pt x="0" y="0"/>
                </a:moveTo>
                <a:lnTo>
                  <a:pt x="4225401" y="0"/>
                </a:lnTo>
                <a:lnTo>
                  <a:pt x="4225401" y="1437968"/>
                </a:lnTo>
                <a:lnTo>
                  <a:pt x="0" y="1437968"/>
                </a:lnTo>
                <a:lnTo>
                  <a:pt x="0" y="0"/>
                </a:lnTo>
                <a:close/>
              </a:path>
            </a:pathLst>
          </a:custGeom>
          <a:blipFill>
            <a:blip r:embed="rId1"/>
            <a:stretch>
              <a:fillRect t="-32285" b="-22005"/>
            </a:stretch>
          </a:blipFill>
        </p:spPr>
      </p:sp>
      <p:sp>
        <p:nvSpPr>
          <p:cNvPr id="7" name="Freeform 7"/>
          <p:cNvSpPr/>
          <p:nvPr/>
        </p:nvSpPr>
        <p:spPr>
          <a:xfrm>
            <a:off x="16923776" y="287592"/>
            <a:ext cx="1020498" cy="953843"/>
          </a:xfrm>
          <a:custGeom>
            <a:avLst/>
            <a:gdLst/>
            <a:ahLst/>
            <a:cxnLst/>
            <a:rect l="l" t="t" r="r" b="b"/>
            <a:pathLst>
              <a:path w="1020498" h="953843">
                <a:moveTo>
                  <a:pt x="0" y="0"/>
                </a:moveTo>
                <a:lnTo>
                  <a:pt x="1020498" y="0"/>
                </a:lnTo>
                <a:lnTo>
                  <a:pt x="1020498" y="953843"/>
                </a:lnTo>
                <a:lnTo>
                  <a:pt x="0" y="953843"/>
                </a:lnTo>
                <a:lnTo>
                  <a:pt x="0" y="0"/>
                </a:lnTo>
                <a:close/>
              </a:path>
            </a:pathLst>
          </a:custGeom>
          <a:blipFill>
            <a:blip r:embed="rId2"/>
            <a:stretch>
              <a:fillRect l="-39358" r="-81508"/>
            </a:stretch>
          </a:blipFill>
        </p:spPr>
      </p:sp>
      <p:sp>
        <p:nvSpPr>
          <p:cNvPr id="8" name="Freeform 8"/>
          <p:cNvSpPr/>
          <p:nvPr/>
        </p:nvSpPr>
        <p:spPr>
          <a:xfrm>
            <a:off x="8893278" y="403731"/>
            <a:ext cx="1469922" cy="1105233"/>
          </a:xfrm>
          <a:custGeom>
            <a:avLst/>
            <a:gdLst/>
            <a:ahLst/>
            <a:cxnLst/>
            <a:rect l="l" t="t" r="r" b="b"/>
            <a:pathLst>
              <a:path w="1469922" h="1105233">
                <a:moveTo>
                  <a:pt x="0" y="0"/>
                </a:moveTo>
                <a:lnTo>
                  <a:pt x="1469922" y="0"/>
                </a:lnTo>
                <a:lnTo>
                  <a:pt x="1469922" y="1105233"/>
                </a:lnTo>
                <a:lnTo>
                  <a:pt x="0" y="1105233"/>
                </a:lnTo>
                <a:lnTo>
                  <a:pt x="0" y="0"/>
                </a:lnTo>
                <a:close/>
              </a:path>
            </a:pathLst>
          </a:custGeom>
          <a:blipFill>
            <a:blip r:embed="rId3"/>
            <a:stretch>
              <a:fillRect l="-126" r="-126"/>
            </a:stretch>
          </a:blipFill>
        </p:spPr>
      </p:sp>
      <p:sp>
        <p:nvSpPr>
          <p:cNvPr id="9" name="TextBox 9"/>
          <p:cNvSpPr txBox="1"/>
          <p:nvPr/>
        </p:nvSpPr>
        <p:spPr>
          <a:xfrm>
            <a:off x="487683" y="2825739"/>
            <a:ext cx="16946341" cy="3575907"/>
          </a:xfrm>
          <a:prstGeom prst="rect">
            <a:avLst/>
          </a:prstGeom>
        </p:spPr>
        <p:txBody>
          <a:bodyPr lIns="0" tIns="0" rIns="0" bIns="0" rtlCol="0" anchor="t">
            <a:spAutoFit/>
          </a:bodyPr>
          <a:lstStyle/>
          <a:p>
            <a:pPr marL="739775" lvl="1" indent="-370205" algn="l">
              <a:lnSpc>
                <a:spcPts val="5655"/>
              </a:lnSpc>
              <a:buFont typeface="Arial" panose="020B0604020202020204"/>
              <a:buChar char="•"/>
            </a:pPr>
            <a:r>
              <a:rPr lang="en-US" sz="3425" spc="34">
                <a:solidFill>
                  <a:srgbClr val="000000"/>
                </a:solidFill>
                <a:latin typeface="Times New Roman" panose="02020603050405020304"/>
                <a:ea typeface="Times New Roman" panose="02020603050405020304"/>
                <a:cs typeface="Times New Roman" panose="02020603050405020304"/>
                <a:sym typeface="Times New Roman" panose="02020603050405020304"/>
              </a:rPr>
              <a:t>For example, one LED might indicate a critical low voltage, while others show undercharged, normal, or fully charged conditions.</a:t>
            </a:r>
            <a:endParaRPr lang="en-US" sz="3425" spc="34">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39775" lvl="1" indent="-370205" algn="l">
              <a:lnSpc>
                <a:spcPts val="5655"/>
              </a:lnSpc>
              <a:buFont typeface="Arial" panose="020B0604020202020204"/>
              <a:buChar char="•"/>
            </a:pPr>
            <a:r>
              <a:rPr lang="en-US" sz="3425" spc="34">
                <a:solidFill>
                  <a:srgbClr val="000000"/>
                </a:solidFill>
                <a:latin typeface="Times New Roman" panose="02020603050405020304"/>
                <a:ea typeface="Times New Roman" panose="02020603050405020304"/>
                <a:cs typeface="Times New Roman" panose="02020603050405020304"/>
                <a:sym typeface="Times New Roman" panose="02020603050405020304"/>
              </a:rPr>
              <a:t>This simple setup ensures real-time monitoring, making it easy to assess the battery's condition and prevent overcharging or deep discharge. The circuit is powered by the battery itself, making it self-sustained and compact.</a:t>
            </a:r>
            <a:endParaRPr lang="en-US" sz="3425" spc="34">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44450" y="1630908"/>
            <a:ext cx="17694993" cy="767044"/>
            <a:chOff x="0" y="0"/>
            <a:chExt cx="23593324" cy="1022726"/>
          </a:xfrm>
        </p:grpSpPr>
        <p:sp>
          <p:nvSpPr>
            <p:cNvPr id="3" name="Freeform 3"/>
            <p:cNvSpPr/>
            <p:nvPr/>
          </p:nvSpPr>
          <p:spPr>
            <a:xfrm>
              <a:off x="12700" y="12700"/>
              <a:ext cx="23567898" cy="997331"/>
            </a:xfrm>
            <a:custGeom>
              <a:avLst/>
              <a:gdLst/>
              <a:ahLst/>
              <a:cxnLst/>
              <a:rect l="l" t="t" r="r" b="b"/>
              <a:pathLst>
                <a:path w="23567898" h="997331">
                  <a:moveTo>
                    <a:pt x="0" y="0"/>
                  </a:moveTo>
                  <a:lnTo>
                    <a:pt x="23567898" y="0"/>
                  </a:lnTo>
                  <a:lnTo>
                    <a:pt x="23567898" y="997331"/>
                  </a:lnTo>
                  <a:lnTo>
                    <a:pt x="0" y="997331"/>
                  </a:lnTo>
                  <a:close/>
                </a:path>
              </a:pathLst>
            </a:custGeom>
            <a:solidFill>
              <a:srgbClr val="BDD7EE"/>
            </a:solidFill>
          </p:spPr>
        </p:sp>
        <p:sp>
          <p:nvSpPr>
            <p:cNvPr id="4" name="Freeform 4"/>
            <p:cNvSpPr/>
            <p:nvPr/>
          </p:nvSpPr>
          <p:spPr>
            <a:xfrm>
              <a:off x="0" y="0"/>
              <a:ext cx="23593298" cy="1022731"/>
            </a:xfrm>
            <a:custGeom>
              <a:avLst/>
              <a:gdLst/>
              <a:ahLst/>
              <a:cxnLst/>
              <a:rect l="l" t="t" r="r" b="b"/>
              <a:pathLst>
                <a:path w="23593298" h="1022731">
                  <a:moveTo>
                    <a:pt x="12700" y="0"/>
                  </a:moveTo>
                  <a:lnTo>
                    <a:pt x="23580598" y="0"/>
                  </a:lnTo>
                  <a:cubicBezTo>
                    <a:pt x="23587583" y="0"/>
                    <a:pt x="23593298" y="5715"/>
                    <a:pt x="23593298" y="12700"/>
                  </a:cubicBezTo>
                  <a:lnTo>
                    <a:pt x="23593298" y="1010031"/>
                  </a:lnTo>
                  <a:cubicBezTo>
                    <a:pt x="23593298" y="1017016"/>
                    <a:pt x="23587583" y="1022731"/>
                    <a:pt x="23580598" y="1022731"/>
                  </a:cubicBezTo>
                  <a:lnTo>
                    <a:pt x="12700" y="1022731"/>
                  </a:lnTo>
                  <a:cubicBezTo>
                    <a:pt x="5715" y="1022731"/>
                    <a:pt x="0" y="1017016"/>
                    <a:pt x="0" y="1010031"/>
                  </a:cubicBezTo>
                  <a:lnTo>
                    <a:pt x="0" y="12700"/>
                  </a:lnTo>
                  <a:cubicBezTo>
                    <a:pt x="0" y="5715"/>
                    <a:pt x="5715" y="0"/>
                    <a:pt x="12700" y="0"/>
                  </a:cubicBezTo>
                  <a:moveTo>
                    <a:pt x="12700" y="25400"/>
                  </a:moveTo>
                  <a:lnTo>
                    <a:pt x="12700" y="12700"/>
                  </a:lnTo>
                  <a:lnTo>
                    <a:pt x="25400" y="12700"/>
                  </a:lnTo>
                  <a:lnTo>
                    <a:pt x="25400" y="1010031"/>
                  </a:lnTo>
                  <a:lnTo>
                    <a:pt x="12700" y="1010031"/>
                  </a:lnTo>
                  <a:lnTo>
                    <a:pt x="12700" y="997331"/>
                  </a:lnTo>
                  <a:lnTo>
                    <a:pt x="23580598" y="997331"/>
                  </a:lnTo>
                  <a:lnTo>
                    <a:pt x="23580598" y="1010031"/>
                  </a:lnTo>
                  <a:lnTo>
                    <a:pt x="23567898" y="1010031"/>
                  </a:lnTo>
                  <a:lnTo>
                    <a:pt x="23567898" y="12700"/>
                  </a:lnTo>
                  <a:lnTo>
                    <a:pt x="23580598" y="12700"/>
                  </a:lnTo>
                  <a:lnTo>
                    <a:pt x="23580598" y="25400"/>
                  </a:lnTo>
                  <a:lnTo>
                    <a:pt x="12700" y="25400"/>
                  </a:lnTo>
                  <a:close/>
                </a:path>
              </a:pathLst>
            </a:custGeom>
            <a:solidFill>
              <a:srgbClr val="000000"/>
            </a:solidFill>
          </p:spPr>
        </p:sp>
        <p:sp>
          <p:nvSpPr>
            <p:cNvPr id="5" name="TextBox 5"/>
            <p:cNvSpPr txBox="1"/>
            <p:nvPr/>
          </p:nvSpPr>
          <p:spPr>
            <a:xfrm>
              <a:off x="0" y="-238125"/>
              <a:ext cx="23593324" cy="1260851"/>
            </a:xfrm>
            <a:prstGeom prst="rect">
              <a:avLst/>
            </a:prstGeom>
          </p:spPr>
          <p:txBody>
            <a:bodyPr lIns="50800" tIns="50800" rIns="50800" bIns="50800" rtlCol="0" anchor="t"/>
            <a:lstStyle/>
            <a:p>
              <a:pPr algn="ctr">
                <a:lnSpc>
                  <a:spcPts val="5400"/>
                </a:lnSpc>
              </a:pPr>
              <a:r>
                <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FUTURE ENHANCEMENT</a:t>
              </a:r>
              <a:endPar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grpSp>
      <p:sp>
        <p:nvSpPr>
          <p:cNvPr id="6" name="Freeform 6"/>
          <p:cNvSpPr/>
          <p:nvPr/>
        </p:nvSpPr>
        <p:spPr>
          <a:xfrm>
            <a:off x="353975" y="265476"/>
            <a:ext cx="4225401" cy="1437968"/>
          </a:xfrm>
          <a:custGeom>
            <a:avLst/>
            <a:gdLst/>
            <a:ahLst/>
            <a:cxnLst/>
            <a:rect l="l" t="t" r="r" b="b"/>
            <a:pathLst>
              <a:path w="4225401" h="1437968">
                <a:moveTo>
                  <a:pt x="0" y="0"/>
                </a:moveTo>
                <a:lnTo>
                  <a:pt x="4225401" y="0"/>
                </a:lnTo>
                <a:lnTo>
                  <a:pt x="4225401" y="1437968"/>
                </a:lnTo>
                <a:lnTo>
                  <a:pt x="0" y="1437968"/>
                </a:lnTo>
                <a:lnTo>
                  <a:pt x="0" y="0"/>
                </a:lnTo>
                <a:close/>
              </a:path>
            </a:pathLst>
          </a:custGeom>
          <a:blipFill>
            <a:blip r:embed="rId1"/>
            <a:stretch>
              <a:fillRect t="-32285" b="-22005"/>
            </a:stretch>
          </a:blipFill>
        </p:spPr>
      </p:sp>
      <p:sp>
        <p:nvSpPr>
          <p:cNvPr id="7" name="Freeform 7"/>
          <p:cNvSpPr/>
          <p:nvPr/>
        </p:nvSpPr>
        <p:spPr>
          <a:xfrm>
            <a:off x="16923776" y="287592"/>
            <a:ext cx="1020498" cy="953843"/>
          </a:xfrm>
          <a:custGeom>
            <a:avLst/>
            <a:gdLst/>
            <a:ahLst/>
            <a:cxnLst/>
            <a:rect l="l" t="t" r="r" b="b"/>
            <a:pathLst>
              <a:path w="1020498" h="953843">
                <a:moveTo>
                  <a:pt x="0" y="0"/>
                </a:moveTo>
                <a:lnTo>
                  <a:pt x="1020498" y="0"/>
                </a:lnTo>
                <a:lnTo>
                  <a:pt x="1020498" y="953843"/>
                </a:lnTo>
                <a:lnTo>
                  <a:pt x="0" y="953843"/>
                </a:lnTo>
                <a:lnTo>
                  <a:pt x="0" y="0"/>
                </a:lnTo>
                <a:close/>
              </a:path>
            </a:pathLst>
          </a:custGeom>
          <a:blipFill>
            <a:blip r:embed="rId2"/>
            <a:stretch>
              <a:fillRect l="-39358" r="-81508"/>
            </a:stretch>
          </a:blipFill>
        </p:spPr>
      </p:sp>
      <p:sp>
        <p:nvSpPr>
          <p:cNvPr id="8" name="Freeform 8"/>
          <p:cNvSpPr/>
          <p:nvPr/>
        </p:nvSpPr>
        <p:spPr>
          <a:xfrm>
            <a:off x="8893278" y="403731"/>
            <a:ext cx="1469922" cy="1105233"/>
          </a:xfrm>
          <a:custGeom>
            <a:avLst/>
            <a:gdLst/>
            <a:ahLst/>
            <a:cxnLst/>
            <a:rect l="l" t="t" r="r" b="b"/>
            <a:pathLst>
              <a:path w="1469922" h="1105233">
                <a:moveTo>
                  <a:pt x="0" y="0"/>
                </a:moveTo>
                <a:lnTo>
                  <a:pt x="1469922" y="0"/>
                </a:lnTo>
                <a:lnTo>
                  <a:pt x="1469922" y="1105233"/>
                </a:lnTo>
                <a:lnTo>
                  <a:pt x="0" y="1105233"/>
                </a:lnTo>
                <a:lnTo>
                  <a:pt x="0" y="0"/>
                </a:lnTo>
                <a:close/>
              </a:path>
            </a:pathLst>
          </a:custGeom>
          <a:blipFill>
            <a:blip r:embed="rId3"/>
            <a:stretch>
              <a:fillRect l="-126" r="-126"/>
            </a:stretch>
          </a:blipFill>
        </p:spPr>
      </p:sp>
      <p:sp>
        <p:nvSpPr>
          <p:cNvPr id="9" name="TextBox 9"/>
          <p:cNvSpPr txBox="1"/>
          <p:nvPr/>
        </p:nvSpPr>
        <p:spPr>
          <a:xfrm>
            <a:off x="0" y="3034852"/>
            <a:ext cx="18166542" cy="5586380"/>
          </a:xfrm>
          <a:prstGeom prst="rect">
            <a:avLst/>
          </a:prstGeom>
        </p:spPr>
        <p:txBody>
          <a:bodyPr lIns="0" tIns="0" rIns="0" bIns="0" rtlCol="0" anchor="t">
            <a:spAutoFit/>
          </a:bodyPr>
          <a:lstStyle/>
          <a:p>
            <a:pPr marL="734060" lvl="1" indent="-367030" algn="l">
              <a:lnSpc>
                <a:spcPts val="5540"/>
              </a:lnSpc>
              <a:buFont typeface="Arial" panose="020B0604020202020204"/>
              <a:buChar char="•"/>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Monitoring battery voltage is crucial for ensuring the longevity and proper functioning of batteries in various applications. Numerous studies have highlighted the importance of keeping batteries within their optimal voltage range to prevent overcharging and deep discharge, which can significantly reduce their lifespan.</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34060" lvl="1" indent="-367030" algn="l">
              <a:lnSpc>
                <a:spcPts val="5540"/>
              </a:lnSpc>
              <a:buFont typeface="Arial" panose="020B0604020202020204"/>
              <a:buChar char="•"/>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Previous designs for battery voltage monitoring systems have typically relied on complex and expensive equipment, such as digital voltmeters or microcontroller-based systems, to provide accurate readings. These methods, while effective, can be impractical for small-scale or cost-sensitive applications due to their complexity and high cost.</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44450" y="1630908"/>
            <a:ext cx="17694993" cy="767044"/>
            <a:chOff x="0" y="0"/>
            <a:chExt cx="23593324" cy="1022726"/>
          </a:xfrm>
        </p:grpSpPr>
        <p:sp>
          <p:nvSpPr>
            <p:cNvPr id="3" name="Freeform 3"/>
            <p:cNvSpPr/>
            <p:nvPr/>
          </p:nvSpPr>
          <p:spPr>
            <a:xfrm>
              <a:off x="12700" y="12700"/>
              <a:ext cx="23567898" cy="997331"/>
            </a:xfrm>
            <a:custGeom>
              <a:avLst/>
              <a:gdLst/>
              <a:ahLst/>
              <a:cxnLst/>
              <a:rect l="l" t="t" r="r" b="b"/>
              <a:pathLst>
                <a:path w="23567898" h="997331">
                  <a:moveTo>
                    <a:pt x="0" y="0"/>
                  </a:moveTo>
                  <a:lnTo>
                    <a:pt x="23567898" y="0"/>
                  </a:lnTo>
                  <a:lnTo>
                    <a:pt x="23567898" y="997331"/>
                  </a:lnTo>
                  <a:lnTo>
                    <a:pt x="0" y="997331"/>
                  </a:lnTo>
                  <a:close/>
                </a:path>
              </a:pathLst>
            </a:custGeom>
            <a:solidFill>
              <a:srgbClr val="BDD7EE"/>
            </a:solidFill>
          </p:spPr>
        </p:sp>
        <p:sp>
          <p:nvSpPr>
            <p:cNvPr id="4" name="Freeform 4"/>
            <p:cNvSpPr/>
            <p:nvPr/>
          </p:nvSpPr>
          <p:spPr>
            <a:xfrm>
              <a:off x="0" y="0"/>
              <a:ext cx="23593298" cy="1022731"/>
            </a:xfrm>
            <a:custGeom>
              <a:avLst/>
              <a:gdLst/>
              <a:ahLst/>
              <a:cxnLst/>
              <a:rect l="l" t="t" r="r" b="b"/>
              <a:pathLst>
                <a:path w="23593298" h="1022731">
                  <a:moveTo>
                    <a:pt x="12700" y="0"/>
                  </a:moveTo>
                  <a:lnTo>
                    <a:pt x="23580598" y="0"/>
                  </a:lnTo>
                  <a:cubicBezTo>
                    <a:pt x="23587583" y="0"/>
                    <a:pt x="23593298" y="5715"/>
                    <a:pt x="23593298" y="12700"/>
                  </a:cubicBezTo>
                  <a:lnTo>
                    <a:pt x="23593298" y="1010031"/>
                  </a:lnTo>
                  <a:cubicBezTo>
                    <a:pt x="23593298" y="1017016"/>
                    <a:pt x="23587583" y="1022731"/>
                    <a:pt x="23580598" y="1022731"/>
                  </a:cubicBezTo>
                  <a:lnTo>
                    <a:pt x="12700" y="1022731"/>
                  </a:lnTo>
                  <a:cubicBezTo>
                    <a:pt x="5715" y="1022731"/>
                    <a:pt x="0" y="1017016"/>
                    <a:pt x="0" y="1010031"/>
                  </a:cubicBezTo>
                  <a:lnTo>
                    <a:pt x="0" y="12700"/>
                  </a:lnTo>
                  <a:cubicBezTo>
                    <a:pt x="0" y="5715"/>
                    <a:pt x="5715" y="0"/>
                    <a:pt x="12700" y="0"/>
                  </a:cubicBezTo>
                  <a:moveTo>
                    <a:pt x="12700" y="25400"/>
                  </a:moveTo>
                  <a:lnTo>
                    <a:pt x="12700" y="12700"/>
                  </a:lnTo>
                  <a:lnTo>
                    <a:pt x="25400" y="12700"/>
                  </a:lnTo>
                  <a:lnTo>
                    <a:pt x="25400" y="1010031"/>
                  </a:lnTo>
                  <a:lnTo>
                    <a:pt x="12700" y="1010031"/>
                  </a:lnTo>
                  <a:lnTo>
                    <a:pt x="12700" y="997331"/>
                  </a:lnTo>
                  <a:lnTo>
                    <a:pt x="23580598" y="997331"/>
                  </a:lnTo>
                  <a:lnTo>
                    <a:pt x="23580598" y="1010031"/>
                  </a:lnTo>
                  <a:lnTo>
                    <a:pt x="23567898" y="1010031"/>
                  </a:lnTo>
                  <a:lnTo>
                    <a:pt x="23567898" y="12700"/>
                  </a:lnTo>
                  <a:lnTo>
                    <a:pt x="23580598" y="12700"/>
                  </a:lnTo>
                  <a:lnTo>
                    <a:pt x="23580598" y="25400"/>
                  </a:lnTo>
                  <a:lnTo>
                    <a:pt x="12700" y="25400"/>
                  </a:lnTo>
                  <a:close/>
                </a:path>
              </a:pathLst>
            </a:custGeom>
            <a:solidFill>
              <a:srgbClr val="000000"/>
            </a:solidFill>
          </p:spPr>
        </p:sp>
        <p:sp>
          <p:nvSpPr>
            <p:cNvPr id="5" name="TextBox 5"/>
            <p:cNvSpPr txBox="1"/>
            <p:nvPr/>
          </p:nvSpPr>
          <p:spPr>
            <a:xfrm>
              <a:off x="0" y="-238125"/>
              <a:ext cx="23593324" cy="1260851"/>
            </a:xfrm>
            <a:prstGeom prst="rect">
              <a:avLst/>
            </a:prstGeom>
          </p:spPr>
          <p:txBody>
            <a:bodyPr lIns="50800" tIns="50800" rIns="50800" bIns="50800" rtlCol="0" anchor="t"/>
            <a:lstStyle/>
            <a:p>
              <a:pPr algn="ctr">
                <a:lnSpc>
                  <a:spcPts val="5400"/>
                </a:lnSpc>
              </a:pPr>
              <a:r>
                <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REFERENCE</a:t>
              </a:r>
              <a:endPar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grpSp>
      <p:sp>
        <p:nvSpPr>
          <p:cNvPr id="6" name="Freeform 6"/>
          <p:cNvSpPr/>
          <p:nvPr/>
        </p:nvSpPr>
        <p:spPr>
          <a:xfrm>
            <a:off x="353975" y="265476"/>
            <a:ext cx="4225401" cy="1437968"/>
          </a:xfrm>
          <a:custGeom>
            <a:avLst/>
            <a:gdLst/>
            <a:ahLst/>
            <a:cxnLst/>
            <a:rect l="l" t="t" r="r" b="b"/>
            <a:pathLst>
              <a:path w="4225401" h="1437968">
                <a:moveTo>
                  <a:pt x="0" y="0"/>
                </a:moveTo>
                <a:lnTo>
                  <a:pt x="4225401" y="0"/>
                </a:lnTo>
                <a:lnTo>
                  <a:pt x="4225401" y="1437968"/>
                </a:lnTo>
                <a:lnTo>
                  <a:pt x="0" y="1437968"/>
                </a:lnTo>
                <a:lnTo>
                  <a:pt x="0" y="0"/>
                </a:lnTo>
                <a:close/>
              </a:path>
            </a:pathLst>
          </a:custGeom>
          <a:blipFill>
            <a:blip r:embed="rId1"/>
            <a:stretch>
              <a:fillRect t="-32285" b="-22005"/>
            </a:stretch>
          </a:blipFill>
        </p:spPr>
      </p:sp>
      <p:sp>
        <p:nvSpPr>
          <p:cNvPr id="7" name="Freeform 7"/>
          <p:cNvSpPr/>
          <p:nvPr/>
        </p:nvSpPr>
        <p:spPr>
          <a:xfrm>
            <a:off x="16923776" y="287592"/>
            <a:ext cx="1020498" cy="953843"/>
          </a:xfrm>
          <a:custGeom>
            <a:avLst/>
            <a:gdLst/>
            <a:ahLst/>
            <a:cxnLst/>
            <a:rect l="l" t="t" r="r" b="b"/>
            <a:pathLst>
              <a:path w="1020498" h="953843">
                <a:moveTo>
                  <a:pt x="0" y="0"/>
                </a:moveTo>
                <a:lnTo>
                  <a:pt x="1020498" y="0"/>
                </a:lnTo>
                <a:lnTo>
                  <a:pt x="1020498" y="953843"/>
                </a:lnTo>
                <a:lnTo>
                  <a:pt x="0" y="953843"/>
                </a:lnTo>
                <a:lnTo>
                  <a:pt x="0" y="0"/>
                </a:lnTo>
                <a:close/>
              </a:path>
            </a:pathLst>
          </a:custGeom>
          <a:blipFill>
            <a:blip r:embed="rId2"/>
            <a:stretch>
              <a:fillRect l="-39358" r="-81508"/>
            </a:stretch>
          </a:blipFill>
        </p:spPr>
      </p:sp>
      <p:sp>
        <p:nvSpPr>
          <p:cNvPr id="8" name="Freeform 8"/>
          <p:cNvSpPr/>
          <p:nvPr/>
        </p:nvSpPr>
        <p:spPr>
          <a:xfrm>
            <a:off x="8893278" y="403731"/>
            <a:ext cx="1469922" cy="1105233"/>
          </a:xfrm>
          <a:custGeom>
            <a:avLst/>
            <a:gdLst/>
            <a:ahLst/>
            <a:cxnLst/>
            <a:rect l="l" t="t" r="r" b="b"/>
            <a:pathLst>
              <a:path w="1469922" h="1105233">
                <a:moveTo>
                  <a:pt x="0" y="0"/>
                </a:moveTo>
                <a:lnTo>
                  <a:pt x="1469922" y="0"/>
                </a:lnTo>
                <a:lnTo>
                  <a:pt x="1469922" y="1105233"/>
                </a:lnTo>
                <a:lnTo>
                  <a:pt x="0" y="1105233"/>
                </a:lnTo>
                <a:lnTo>
                  <a:pt x="0" y="0"/>
                </a:lnTo>
                <a:close/>
              </a:path>
            </a:pathLst>
          </a:custGeom>
          <a:blipFill>
            <a:blip r:embed="rId3"/>
            <a:stretch>
              <a:fillRect l="-126" r="-126"/>
            </a:stretch>
          </a:blipFill>
        </p:spPr>
      </p:sp>
      <p:sp>
        <p:nvSpPr>
          <p:cNvPr id="9" name="TextBox 9"/>
          <p:cNvSpPr txBox="1"/>
          <p:nvPr/>
        </p:nvSpPr>
        <p:spPr>
          <a:xfrm>
            <a:off x="733498" y="2655128"/>
            <a:ext cx="17305945" cy="6047620"/>
          </a:xfrm>
          <a:prstGeom prst="rect">
            <a:avLst/>
          </a:prstGeom>
        </p:spPr>
        <p:txBody>
          <a:bodyPr lIns="0" tIns="0" rIns="0" bIns="0" rtlCol="0" anchor="t">
            <a:spAutoFit/>
          </a:bodyPr>
          <a:lstStyle/>
          <a:p>
            <a:pPr algn="l">
              <a:lnSpc>
                <a:spcPts val="4760"/>
              </a:lnSpc>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1. LM339 Comparator Datasheet, Texas Instruments, available at: https://www.ti.com</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760"/>
              </a:lnSpc>
            </a:pPr>
          </a:p>
          <a:p>
            <a:pPr algn="l">
              <a:lnSpc>
                <a:spcPts val="4760"/>
              </a:lnSpc>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2. Boylestad, R. L., &amp; Nashelsky, L. (2006). Electronic Devices and Circuit Theory. Pearson Education.</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760"/>
              </a:lnSpc>
            </a:pPr>
          </a:p>
          <a:p>
            <a:pPr algn="l">
              <a:lnSpc>
                <a:spcPts val="4760"/>
              </a:lnSpc>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3. LED Basics and Applications, Electronics Tutorials, available at: https://www.electronics-tutorials.ws</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760"/>
              </a:lnSpc>
            </a:pPr>
          </a:p>
          <a:p>
            <a:pPr algn="l">
              <a:lnSpc>
                <a:spcPts val="4760"/>
              </a:lnSpc>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4. Resistor and LED Applications, Circuit Basics, available at: https://www.circuitbasics.com</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760"/>
              </a:lnSpc>
            </a:pPr>
          </a:p>
        </p:txBody>
      </p:sp>
    </p:spTree>
  </p:cSld>
  <p:clrMapOvr>
    <a:masterClrMapping/>
  </p:clrMapOvr>
  <p:transition>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44450" y="1901071"/>
            <a:ext cx="17694993" cy="767045"/>
            <a:chOff x="0" y="0"/>
            <a:chExt cx="23593324" cy="1022726"/>
          </a:xfrm>
        </p:grpSpPr>
        <p:sp>
          <p:nvSpPr>
            <p:cNvPr id="3" name="Freeform 3"/>
            <p:cNvSpPr/>
            <p:nvPr/>
          </p:nvSpPr>
          <p:spPr>
            <a:xfrm>
              <a:off x="12700" y="12700"/>
              <a:ext cx="23567898" cy="997331"/>
            </a:xfrm>
            <a:custGeom>
              <a:avLst/>
              <a:gdLst/>
              <a:ahLst/>
              <a:cxnLst/>
              <a:rect l="l" t="t" r="r" b="b"/>
              <a:pathLst>
                <a:path w="23567898" h="997331">
                  <a:moveTo>
                    <a:pt x="0" y="0"/>
                  </a:moveTo>
                  <a:lnTo>
                    <a:pt x="23567898" y="0"/>
                  </a:lnTo>
                  <a:lnTo>
                    <a:pt x="23567898" y="997331"/>
                  </a:lnTo>
                  <a:lnTo>
                    <a:pt x="0" y="997331"/>
                  </a:lnTo>
                  <a:close/>
                </a:path>
              </a:pathLst>
            </a:custGeom>
            <a:solidFill>
              <a:srgbClr val="BDD7EE"/>
            </a:solidFill>
          </p:spPr>
        </p:sp>
        <p:sp>
          <p:nvSpPr>
            <p:cNvPr id="4" name="Freeform 4"/>
            <p:cNvSpPr/>
            <p:nvPr/>
          </p:nvSpPr>
          <p:spPr>
            <a:xfrm>
              <a:off x="0" y="0"/>
              <a:ext cx="23593298" cy="1022731"/>
            </a:xfrm>
            <a:custGeom>
              <a:avLst/>
              <a:gdLst/>
              <a:ahLst/>
              <a:cxnLst/>
              <a:rect l="l" t="t" r="r" b="b"/>
              <a:pathLst>
                <a:path w="23593298" h="1022731">
                  <a:moveTo>
                    <a:pt x="12700" y="0"/>
                  </a:moveTo>
                  <a:lnTo>
                    <a:pt x="23580598" y="0"/>
                  </a:lnTo>
                  <a:cubicBezTo>
                    <a:pt x="23587583" y="0"/>
                    <a:pt x="23593298" y="5715"/>
                    <a:pt x="23593298" y="12700"/>
                  </a:cubicBezTo>
                  <a:lnTo>
                    <a:pt x="23593298" y="1010031"/>
                  </a:lnTo>
                  <a:cubicBezTo>
                    <a:pt x="23593298" y="1017016"/>
                    <a:pt x="23587583" y="1022731"/>
                    <a:pt x="23580598" y="1022731"/>
                  </a:cubicBezTo>
                  <a:lnTo>
                    <a:pt x="12700" y="1022731"/>
                  </a:lnTo>
                  <a:cubicBezTo>
                    <a:pt x="5715" y="1022731"/>
                    <a:pt x="0" y="1017016"/>
                    <a:pt x="0" y="1010031"/>
                  </a:cubicBezTo>
                  <a:lnTo>
                    <a:pt x="0" y="12700"/>
                  </a:lnTo>
                  <a:cubicBezTo>
                    <a:pt x="0" y="5715"/>
                    <a:pt x="5715" y="0"/>
                    <a:pt x="12700" y="0"/>
                  </a:cubicBezTo>
                  <a:moveTo>
                    <a:pt x="12700" y="25400"/>
                  </a:moveTo>
                  <a:lnTo>
                    <a:pt x="12700" y="12700"/>
                  </a:lnTo>
                  <a:lnTo>
                    <a:pt x="25400" y="12700"/>
                  </a:lnTo>
                  <a:lnTo>
                    <a:pt x="25400" y="1010031"/>
                  </a:lnTo>
                  <a:lnTo>
                    <a:pt x="12700" y="1010031"/>
                  </a:lnTo>
                  <a:lnTo>
                    <a:pt x="12700" y="997331"/>
                  </a:lnTo>
                  <a:lnTo>
                    <a:pt x="23580598" y="997331"/>
                  </a:lnTo>
                  <a:lnTo>
                    <a:pt x="23580598" y="1010031"/>
                  </a:lnTo>
                  <a:lnTo>
                    <a:pt x="23567898" y="1010031"/>
                  </a:lnTo>
                  <a:lnTo>
                    <a:pt x="23567898" y="12700"/>
                  </a:lnTo>
                  <a:lnTo>
                    <a:pt x="23580598" y="12700"/>
                  </a:lnTo>
                  <a:lnTo>
                    <a:pt x="23580598" y="25400"/>
                  </a:lnTo>
                  <a:lnTo>
                    <a:pt x="12700" y="25400"/>
                  </a:lnTo>
                  <a:close/>
                </a:path>
              </a:pathLst>
            </a:custGeom>
            <a:solidFill>
              <a:srgbClr val="000000"/>
            </a:solidFill>
          </p:spPr>
        </p:sp>
        <p:sp>
          <p:nvSpPr>
            <p:cNvPr id="5" name="TextBox 5"/>
            <p:cNvSpPr txBox="1"/>
            <p:nvPr/>
          </p:nvSpPr>
          <p:spPr>
            <a:xfrm>
              <a:off x="0" y="-238125"/>
              <a:ext cx="23593324" cy="1260851"/>
            </a:xfrm>
            <a:prstGeom prst="rect">
              <a:avLst/>
            </a:prstGeom>
          </p:spPr>
          <p:txBody>
            <a:bodyPr lIns="50800" tIns="50800" rIns="50800" bIns="50800" rtlCol="0" anchor="t"/>
            <a:lstStyle/>
            <a:p>
              <a:pPr algn="ctr">
                <a:lnSpc>
                  <a:spcPts val="5400"/>
                </a:lnSpc>
              </a:pPr>
              <a:r>
                <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CONCLUSION</a:t>
              </a:r>
              <a:endParaRPr lang="en-US" sz="3000" b="1">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grpSp>
      <p:sp>
        <p:nvSpPr>
          <p:cNvPr id="6" name="Freeform 6"/>
          <p:cNvSpPr/>
          <p:nvPr/>
        </p:nvSpPr>
        <p:spPr>
          <a:xfrm>
            <a:off x="353975" y="265476"/>
            <a:ext cx="4225401" cy="1437968"/>
          </a:xfrm>
          <a:custGeom>
            <a:avLst/>
            <a:gdLst/>
            <a:ahLst/>
            <a:cxnLst/>
            <a:rect l="l" t="t" r="r" b="b"/>
            <a:pathLst>
              <a:path w="4225401" h="1437968">
                <a:moveTo>
                  <a:pt x="0" y="0"/>
                </a:moveTo>
                <a:lnTo>
                  <a:pt x="4225401" y="0"/>
                </a:lnTo>
                <a:lnTo>
                  <a:pt x="4225401" y="1437968"/>
                </a:lnTo>
                <a:lnTo>
                  <a:pt x="0" y="1437968"/>
                </a:lnTo>
                <a:lnTo>
                  <a:pt x="0" y="0"/>
                </a:lnTo>
                <a:close/>
              </a:path>
            </a:pathLst>
          </a:custGeom>
          <a:blipFill>
            <a:blip r:embed="rId1"/>
            <a:stretch>
              <a:fillRect t="-32285" b="-22005"/>
            </a:stretch>
          </a:blipFill>
        </p:spPr>
      </p:sp>
      <p:sp>
        <p:nvSpPr>
          <p:cNvPr id="7" name="Freeform 7"/>
          <p:cNvSpPr/>
          <p:nvPr/>
        </p:nvSpPr>
        <p:spPr>
          <a:xfrm>
            <a:off x="16923776" y="287592"/>
            <a:ext cx="1020498" cy="953843"/>
          </a:xfrm>
          <a:custGeom>
            <a:avLst/>
            <a:gdLst/>
            <a:ahLst/>
            <a:cxnLst/>
            <a:rect l="l" t="t" r="r" b="b"/>
            <a:pathLst>
              <a:path w="1020498" h="953843">
                <a:moveTo>
                  <a:pt x="0" y="0"/>
                </a:moveTo>
                <a:lnTo>
                  <a:pt x="1020498" y="0"/>
                </a:lnTo>
                <a:lnTo>
                  <a:pt x="1020498" y="953843"/>
                </a:lnTo>
                <a:lnTo>
                  <a:pt x="0" y="953843"/>
                </a:lnTo>
                <a:lnTo>
                  <a:pt x="0" y="0"/>
                </a:lnTo>
                <a:close/>
              </a:path>
            </a:pathLst>
          </a:custGeom>
          <a:blipFill>
            <a:blip r:embed="rId2"/>
            <a:stretch>
              <a:fillRect l="-39358" r="-81508"/>
            </a:stretch>
          </a:blipFill>
        </p:spPr>
      </p:sp>
      <p:sp>
        <p:nvSpPr>
          <p:cNvPr id="8" name="Freeform 8"/>
          <p:cNvSpPr/>
          <p:nvPr/>
        </p:nvSpPr>
        <p:spPr>
          <a:xfrm>
            <a:off x="8546692" y="287592"/>
            <a:ext cx="1469922" cy="1105233"/>
          </a:xfrm>
          <a:custGeom>
            <a:avLst/>
            <a:gdLst/>
            <a:ahLst/>
            <a:cxnLst/>
            <a:rect l="l" t="t" r="r" b="b"/>
            <a:pathLst>
              <a:path w="1469922" h="1105233">
                <a:moveTo>
                  <a:pt x="0" y="0"/>
                </a:moveTo>
                <a:lnTo>
                  <a:pt x="1469922" y="0"/>
                </a:lnTo>
                <a:lnTo>
                  <a:pt x="1469922" y="1105233"/>
                </a:lnTo>
                <a:lnTo>
                  <a:pt x="0" y="1105233"/>
                </a:lnTo>
                <a:lnTo>
                  <a:pt x="0" y="0"/>
                </a:lnTo>
                <a:close/>
              </a:path>
            </a:pathLst>
          </a:custGeom>
          <a:blipFill>
            <a:blip r:embed="rId3"/>
            <a:stretch>
              <a:fillRect l="-126" r="-126"/>
            </a:stretch>
          </a:blipFill>
        </p:spPr>
      </p:sp>
      <p:sp>
        <p:nvSpPr>
          <p:cNvPr id="9" name="TextBox 9"/>
          <p:cNvSpPr txBox="1"/>
          <p:nvPr/>
        </p:nvSpPr>
        <p:spPr>
          <a:xfrm>
            <a:off x="684763" y="3039591"/>
            <a:ext cx="17193780" cy="4247431"/>
          </a:xfrm>
          <a:prstGeom prst="rect">
            <a:avLst/>
          </a:prstGeom>
        </p:spPr>
        <p:txBody>
          <a:bodyPr lIns="0" tIns="0" rIns="0" bIns="0" rtlCol="0" anchor="t">
            <a:spAutoFit/>
          </a:bodyPr>
          <a:lstStyle/>
          <a:p>
            <a:pPr marL="734060" lvl="1" indent="-367030" algn="l">
              <a:lnSpc>
                <a:spcPts val="4760"/>
              </a:lnSpc>
              <a:buFont typeface="Arial" panose="020B0604020202020204"/>
              <a:buChar char="•"/>
            </a:pPr>
            <a:r>
              <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rPr>
              <a:t>In conclusion, the Battery Voltage Monitor project successfully provides a low-cost and efficient solution for monitoring battery voltage levels. By using the LM339 comparator and LEDs, the system gives a clear visual indication of different voltage ranges, helping to prevent battery damage due to overcharging or deep discharge. The project was designed, assembled, and tested on a breadboard, and it demonstrated accurate performance in monitoring voltage. Overall, this project proves to be a reliable and straightforward method for real-time battery voltage monitoring in various applications.</a:t>
            </a:r>
            <a:endParaRPr lang="en-US" sz="340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ransition>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6448</Words>
  <Application>WPS Presentation</Application>
  <PresentationFormat>On-screen Show (4:3)</PresentationFormat>
  <Paragraphs>107</Paragraphs>
  <Slides>18</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18</vt:i4>
      </vt:variant>
    </vt:vector>
  </HeadingPairs>
  <TitlesOfParts>
    <vt:vector size="33" baseType="lpstr">
      <vt:lpstr>Arial</vt:lpstr>
      <vt:lpstr>SimSun</vt:lpstr>
      <vt:lpstr>Wingdings</vt:lpstr>
      <vt:lpstr>Arimo Bold</vt:lpstr>
      <vt:lpstr>Poppins</vt:lpstr>
      <vt:lpstr>Arimo</vt:lpstr>
      <vt:lpstr>Times New Roman</vt:lpstr>
      <vt:lpstr>Arial</vt:lpstr>
      <vt:lpstr>Times New Roman Bold</vt:lpstr>
      <vt:lpstr>Canva Sans Bold</vt:lpstr>
      <vt:lpstr>Canva Sans</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BATCH 8 PROJECT</dc:title>
  <dc:creator/>
  <cp:lastModifiedBy>Ramana Durairaj</cp:lastModifiedBy>
  <cp:revision>2</cp:revision>
  <dcterms:created xsi:type="dcterms:W3CDTF">2006-08-16T00:00:00Z</dcterms:created>
  <dcterms:modified xsi:type="dcterms:W3CDTF">2026-05-27T07:08:12Z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71DF21DC820D4440817196E77D57EC70_13</vt:lpwstr>
  </property>
</Properties>
</file>